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a:t>Budget vs actual vs EAC by project (AED thousand, PRJ-xxx)</a:t>
            </a:r>
          </a:p>
        </c:rich>
      </c:tx>
      <c:layout/>
      <c:overlay val="0"/>
    </c:title>
    <c:autoTitleDeleted val="0"/>
    <c:plotArea>
      <c:barChart>
        <c:barDir val="col"/>
        <c:grouping val="clustered"/>
        <c:ser>
          <c:idx val="0"/>
          <c:order val="0"/>
          <c:tx>
            <c:strRef>
              <c:f>Sheet1!$B$1</c:f>
              <c:strCache>
                <c:ptCount val="1"/>
                <c:pt idx="0">
                  <c:v>Approved budget</c:v>
                </c:pt>
              </c:strCache>
            </c:strRef>
          </c:tx>
          <c:spPr>
            <a:solidFill>
              <a:srgbClr val="9AA3AE"/>
            </a:solidFill>
          </c:spPr>
          <c:cat>
            <c:strRef>
              <c:f>Sheet1!$A$2:$A$11</c:f>
              <c:strCache>
                <c:ptCount val="10"/>
                <c:pt idx="0">
                  <c:v>001</c:v>
                </c:pt>
                <c:pt idx="1">
                  <c:v>002</c:v>
                </c:pt>
                <c:pt idx="2">
                  <c:v>003</c:v>
                </c:pt>
                <c:pt idx="3">
                  <c:v>004</c:v>
                </c:pt>
                <c:pt idx="4">
                  <c:v>005</c:v>
                </c:pt>
                <c:pt idx="5">
                  <c:v>006</c:v>
                </c:pt>
                <c:pt idx="6">
                  <c:v>007</c:v>
                </c:pt>
                <c:pt idx="7">
                  <c:v>008</c:v>
                </c:pt>
                <c:pt idx="8">
                  <c:v>009</c:v>
                </c:pt>
                <c:pt idx="9">
                  <c:v>010</c:v>
                </c:pt>
              </c:strCache>
            </c:strRef>
          </c:cat>
          <c:val>
            <c:numRef>
              <c:f>Sheet1!$B$2:$B$11</c:f>
              <c:numCache>
                <c:formatCode>General</c:formatCode>
                <c:ptCount val="10"/>
                <c:pt idx="0">
                  <c:v>1300</c:v>
                </c:pt>
                <c:pt idx="1">
                  <c:v>2700</c:v>
                </c:pt>
                <c:pt idx="2">
                  <c:v>800</c:v>
                </c:pt>
                <c:pt idx="3">
                  <c:v>900</c:v>
                </c:pt>
                <c:pt idx="4">
                  <c:v>620</c:v>
                </c:pt>
                <c:pt idx="5">
                  <c:v>1000</c:v>
                </c:pt>
                <c:pt idx="6">
                  <c:v>1500</c:v>
                </c:pt>
                <c:pt idx="7">
                  <c:v>1950</c:v>
                </c:pt>
                <c:pt idx="8">
                  <c:v>550</c:v>
                </c:pt>
                <c:pt idx="9">
                  <c:v>700</c:v>
                </c:pt>
              </c:numCache>
            </c:numRef>
          </c:val>
        </c:ser>
        <c:ser>
          <c:idx val="1"/>
          <c:order val="1"/>
          <c:tx>
            <c:strRef>
              <c:f>Sheet1!$C$1</c:f>
              <c:strCache>
                <c:ptCount val="1"/>
                <c:pt idx="0">
                  <c:v>Actual spend</c:v>
                </c:pt>
              </c:strCache>
            </c:strRef>
          </c:tx>
          <c:spPr>
            <a:solidFill>
              <a:srgbClr val="C8102E"/>
            </a:solidFill>
          </c:spPr>
          <c:cat>
            <c:strRef>
              <c:f>Sheet1!$A$2:$A$11</c:f>
              <c:strCache>
                <c:ptCount val="10"/>
                <c:pt idx="0">
                  <c:v>001</c:v>
                </c:pt>
                <c:pt idx="1">
                  <c:v>002</c:v>
                </c:pt>
                <c:pt idx="2">
                  <c:v>003</c:v>
                </c:pt>
                <c:pt idx="3">
                  <c:v>004</c:v>
                </c:pt>
                <c:pt idx="4">
                  <c:v>005</c:v>
                </c:pt>
                <c:pt idx="5">
                  <c:v>006</c:v>
                </c:pt>
                <c:pt idx="6">
                  <c:v>007</c:v>
                </c:pt>
                <c:pt idx="7">
                  <c:v>008</c:v>
                </c:pt>
                <c:pt idx="8">
                  <c:v>009</c:v>
                </c:pt>
                <c:pt idx="9">
                  <c:v>010</c:v>
                </c:pt>
              </c:strCache>
            </c:strRef>
          </c:cat>
          <c:val>
            <c:numRef>
              <c:f>Sheet1!$C$2:$C$11</c:f>
              <c:numCache>
                <c:formatCode>General</c:formatCode>
                <c:ptCount val="10"/>
                <c:pt idx="0">
                  <c:v>1196</c:v>
                </c:pt>
                <c:pt idx="1">
                  <c:v>1647</c:v>
                </c:pt>
                <c:pt idx="2">
                  <c:v>0</c:v>
                </c:pt>
                <c:pt idx="3">
                  <c:v>738</c:v>
                </c:pt>
                <c:pt idx="4">
                  <c:v>248</c:v>
                </c:pt>
                <c:pt idx="5">
                  <c:v>380</c:v>
                </c:pt>
                <c:pt idx="6">
                  <c:v>675</c:v>
                </c:pt>
                <c:pt idx="7">
                  <c:v>1072.5</c:v>
                </c:pt>
                <c:pt idx="8">
                  <c:v>599.5</c:v>
                </c:pt>
                <c:pt idx="9">
                  <c:v>0</c:v>
                </c:pt>
              </c:numCache>
            </c:numRef>
          </c:val>
        </c:ser>
        <c:ser>
          <c:idx val="2"/>
          <c:order val="2"/>
          <c:tx>
            <c:strRef>
              <c:f>Sheet1!$D$1</c:f>
              <c:strCache>
                <c:ptCount val="1"/>
                <c:pt idx="0">
                  <c:v>EAC</c:v>
                </c:pt>
              </c:strCache>
            </c:strRef>
          </c:tx>
          <c:spPr>
            <a:solidFill>
              <a:srgbClr val="1F242B"/>
            </a:solidFill>
          </c:spPr>
          <c:cat>
            <c:strRef>
              <c:f>Sheet1!$A$2:$A$11</c:f>
              <c:strCache>
                <c:ptCount val="10"/>
                <c:pt idx="0">
                  <c:v>001</c:v>
                </c:pt>
                <c:pt idx="1">
                  <c:v>002</c:v>
                </c:pt>
                <c:pt idx="2">
                  <c:v>003</c:v>
                </c:pt>
                <c:pt idx="3">
                  <c:v>004</c:v>
                </c:pt>
                <c:pt idx="4">
                  <c:v>005</c:v>
                </c:pt>
                <c:pt idx="5">
                  <c:v>006</c:v>
                </c:pt>
                <c:pt idx="6">
                  <c:v>007</c:v>
                </c:pt>
                <c:pt idx="7">
                  <c:v>008</c:v>
                </c:pt>
                <c:pt idx="8">
                  <c:v>009</c:v>
                </c:pt>
                <c:pt idx="9">
                  <c:v>010</c:v>
                </c:pt>
              </c:strCache>
            </c:strRef>
          </c:cat>
          <c:val>
            <c:numRef>
              <c:f>Sheet1!$D$2:$D$11</c:f>
              <c:numCache>
                <c:formatCode>General</c:formatCode>
                <c:ptCount val="10"/>
                <c:pt idx="0">
                  <c:v>1286</c:v>
                </c:pt>
                <c:pt idx="1">
                  <c:v>2947</c:v>
                </c:pt>
                <c:pt idx="2">
                  <c:v>500</c:v>
                </c:pt>
                <c:pt idx="3">
                  <c:v>738</c:v>
                </c:pt>
                <c:pt idx="4">
                  <c:v>248</c:v>
                </c:pt>
                <c:pt idx="5">
                  <c:v>580</c:v>
                </c:pt>
                <c:pt idx="6">
                  <c:v>1375</c:v>
                </c:pt>
                <c:pt idx="7">
                  <c:v>1772.5</c:v>
                </c:pt>
                <c:pt idx="8">
                  <c:v>659.5</c:v>
                </c:pt>
                <c:pt idx="9">
                  <c:v>600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value. Today the PMO runs on spreadsheets, emails and slide decks, so leadership cannot trust any single number for delivery health, cost exposure or overdue work. I built one connected portal: operational teams maintain the records, and management gets a separate live dashboard computed from the same SQL database. The six journeys on the right are exactly what I demonstrate: create a project, update a task and watch the dashboard change, manage milestones and risks, post a cost and see spend recalculate, run a change request through approval with history, and drill from a KPI to the underlying records. Key message: one database, one set of definitions, enforced on the server.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seven modules share users, project ids and business rules: portfolio, tasks and milestones, risks, change requests with approvals, finance, the executive dashboard, and access with audit. Three roles are enforced on the server: Contributor, Project Manager, Administrator. The system is not a demo shell: it runs on a generated dataset of 10 projects, 118 tasks, 123 cost transactions and 18 change requests, with the required edge cases present on purpose. Stack: ASP.NET Core on .NET 10, PostgreSQL 16, Angular with Material and ECharts. Admin screens cover users, audit log, automation monitor and cost categories.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Clean Architecture with dependencies pointing inwards: Api, Application, Domain; Infrastructure implements the interfaces. Controllers only bind the request and map the result. Services own the business rules and transactions. Domain entities hold state transitions, for example posting a cost, and throw a rule exception that one handler maps to an HTTP status and a ProblemDetails body with a correlation id. Writes use EF Core with optimistic concurrency; the analytics use explicit Dapper SQL with one CTE per one-to-many table so spend is never multiplied by joins. Authorization has two layers: a role policy on the route and a project-scope check in the service, so out-of-scope ids return 404 and forbidden actions 403, even if the frontend is bypassed. A background worker handles the outbox. Power BI and other tools read the reporting views, not the CSV files.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Finance is an operational module, not a chart. Budgets: initial approved amount plus approved revisions only; pending and rejected revisions change nothing. Costs are draft or posted; only posted costs on or before the reporting date count as actual spend, and posted costs are immutable, so a correction is a reversal entry, never a silent edit. Forecast to complete is the sum of future monthly estimates; EAC is actual plus forecast, and variance is budget minus EAC. A project with no forecast keeps EAC equal to actual and is flagged 'No forecast'; we never invent a forecast. The chart shows budget, actual and EAC per project from the live database. PRJ-009 is already overspent, PRJ-001 is at 92 percent, PRJ-002 is projected to overrun by 247 thousand. Controls: only authorised roles post, every mutation records actor and time, and crossing 90 or 100 percent of budget queues an alert through the outbox. Approved change requests never turn into spend by themselves.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is a real application component set, not embedded Power BI. KPI cards, charts and drill-downs call backend analytics endpoints that run SQL on each request, scoped to what the signed-in user may see. Filters: department, project, manager, lifecycle status, timeframe and cost category; they live in the URL, so a view can be shared and survives reload. Drill-downs open the underlying records: the actual-spend card opens the posted cost transactions whose total equals the card, and overdue or risk visuals open the matching tasks or risks. A test asserts the drill-down total equals the KPI for every filter. Integrity demonstration: update a task's progress or post a new cost, and the dashboard shows new values on the next load, because nothing is computed in the browser. Two KPIs to explain: Actual spend is the sum of posted cost transactions up to the reporting date, from cost_transactions, filtered by the selected projects; Portfolio progress is the task-weighted average of progress, from tasks, excluding cancelled tasks, never an average of project averages.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automation turns business events into notifications without ever risking the business transaction. Trigger: approving a change request, or a posted cost taking a project past 90 or 100 percent of its budget. The same database transaction that makes the change also writes an outbox row. A background worker polls every ten seconds, claims pending rows with SKIP LOCKED so two workers never take the same row, creates in-app notifications, and records an automation run with counts and a correlation id. Safety: a unique dedup key stops the same event being queued twice, a unique constraint on message and user stops a second notification, failures retry with exponential backoff and end as 'failed' after five attempts with the error text, and an administrator can retry from the Automation screen. Evidence: I reset the database, the worker processed the pending message by itself, I retried the seeded failed message from the API and it was processed on the next run. The write-up is in docs/automation-evidence.md.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was a development accelerator, but I stayed the owner of every rule. Strategy: I wrote the requirements and financial definitions in documents first; AI worked slice by slice from story ids, and every slice ended with an explanation I had to be able to give back. Business rules and formulas come from my design document; I verify them with tests against the seeded edge cases rather than trusting the generated code. For debugging I gave the AI the failing test, the log line with the correlation id and the SQL, and asked for a hypothesis before a fix. The log has eight entries. Three examples where the AI was wrong: integer division made the portfolio progress KPI 63 instead of 63.24, found because a test computes the expected value with its own SQL; the seed data used different audit action names than the API; and a shared table change compiled but crashed at runtime, found in the browser console. I will open any file, trace a request end to end and make a live change. [Presenter: adjust the last line to what you personally validated.]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246 automated checks. 51 unit tests for domain rules and financial calculations, and 195 integration tests that run the real API against a real PostgreSQL in a container: workflow transitions, financial figures with exact decimals, concurrency, idempotency and RBAC. Acceptance test D is automated: a Contributor calling approval or cost posting directly gets 403 and nothing changes. A stale version returns 409, and a repeated Idempotency-Key creates one cost. Delivery: Git history of small conventional commits, a README with setup, an environment example with no secrets, migrations, a generator with a fixed seed, generated CSVs, an import script and a reset script. Honest status: the reporting views, report queries, DAX measures and reconciliation template are ready; the Power BI report file, the Access utility and a hosted URL are still to do. [Presenter: update this line before the interview.] Everything runs locally; the frontend, API and SQL database are verifiable end to end.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nchor="t" lIns="45720" rIns="45720">
            <a:spAutoFit/>
          </a:bodyPr>
          <a:lstStyle/>
          <a:p>
            <a:pPr>
              <a:spcAft>
                <a:spcPts val="600"/>
              </a:spcAft>
            </a:pPr>
            <a:r>
              <a:rPr sz="3000" b="1">
                <a:solidFill>
                  <a:srgbClr val="1F242B"/>
                </a:solidFill>
                <a:latin typeface="Calibri"/>
              </a:rPr>
              <a:t>One trusted view of delivery, cost and risk</a:t>
            </a:r>
          </a:p>
        </p:txBody>
      </p:sp>
      <p:sp>
        <p:nvSpPr>
          <p:cNvPr id="4" name="TextBox 3"/>
          <p:cNvSpPr txBox="1"/>
          <p:nvPr/>
        </p:nvSpPr>
        <p:spPr>
          <a:xfrm>
            <a:off x="548640" y="6419088"/>
            <a:ext cx="8229600" cy="274320"/>
          </a:xfrm>
          <a:prstGeom prst="rect">
            <a:avLst/>
          </a:prstGeom>
          <a:noFill/>
        </p:spPr>
        <p:txBody>
          <a:bodyPr wrap="square" anchor="t" lIns="45720" rIns="45720">
            <a:spAutoFit/>
          </a:bodyPr>
          <a:lstStyle/>
          <a:p>
            <a:pPr>
              <a:spcAft>
                <a:spcPts val="600"/>
              </a:spcAft>
            </a:pPr>
            <a:r>
              <a:rPr sz="1000" b="0">
                <a:solidFill>
                  <a:srgbClr val="5B6470"/>
                </a:solidFill>
                <a:latin typeface="Calibri"/>
              </a:rPr>
              <a:t>PMO Portfolio &amp; Financial Control Portal  |  baseline 30 September 2026, all data fictional</a:t>
            </a:r>
          </a:p>
        </p:txBody>
      </p:sp>
      <p:sp>
        <p:nvSpPr>
          <p:cNvPr id="5" name="TextBox 4"/>
          <p:cNvSpPr txBox="1"/>
          <p:nvPr/>
        </p:nvSpPr>
        <p:spPr>
          <a:xfrm>
            <a:off x="10972800" y="6419088"/>
            <a:ext cx="731520" cy="274320"/>
          </a:xfrm>
          <a:prstGeom prst="rect">
            <a:avLst/>
          </a:prstGeom>
          <a:noFill/>
        </p:spPr>
        <p:txBody>
          <a:bodyPr wrap="square" anchor="t" lIns="45720" rIns="45720">
            <a:spAutoFit/>
          </a:bodyPr>
          <a:lstStyle/>
          <a:p>
            <a:pPr>
              <a:spcAft>
                <a:spcPts val="600"/>
              </a:spcAft>
            </a:pPr>
            <a:r>
              <a:rPr sz="1000" b="0">
                <a:solidFill>
                  <a:srgbClr val="5B6470"/>
                </a:solidFill>
                <a:latin typeface="Calibri"/>
              </a:rPr>
              <a:t>1</a:t>
            </a:r>
          </a:p>
        </p:txBody>
      </p:sp>
      <p:sp>
        <p:nvSpPr>
          <p:cNvPr id="6" name="TextBox 5"/>
          <p:cNvSpPr txBox="1"/>
          <p:nvPr/>
        </p:nvSpPr>
        <p:spPr>
          <a:xfrm>
            <a:off x="548640" y="1371600"/>
            <a:ext cx="5394960" cy="457200"/>
          </a:xfrm>
          <a:prstGeom prst="rect">
            <a:avLst/>
          </a:prstGeom>
          <a:noFill/>
        </p:spPr>
        <p:txBody>
          <a:bodyPr wrap="square" anchor="t" lIns="45720" rIns="45720">
            <a:spAutoFit/>
          </a:bodyPr>
          <a:lstStyle/>
          <a:p>
            <a:pPr>
              <a:spcAft>
                <a:spcPts val="600"/>
              </a:spcAft>
            </a:pPr>
            <a:r>
              <a:rPr sz="2000" b="1">
                <a:solidFill>
                  <a:srgbClr val="C8102E"/>
                </a:solidFill>
                <a:latin typeface="Calibri"/>
              </a:rPr>
              <a:t>The problem</a:t>
            </a:r>
          </a:p>
        </p:txBody>
      </p:sp>
      <p:sp>
        <p:nvSpPr>
          <p:cNvPr id="7" name="TextBox 6"/>
          <p:cNvSpPr txBox="1"/>
          <p:nvPr/>
        </p:nvSpPr>
        <p:spPr>
          <a:xfrm>
            <a:off x="548640" y="1828800"/>
            <a:ext cx="5394960" cy="2011680"/>
          </a:xfrm>
          <a:prstGeom prst="rect">
            <a:avLst/>
          </a:prstGeom>
          <a:noFill/>
        </p:spPr>
        <p:txBody>
          <a:bodyPr wrap="square" anchor="t" lIns="45720" rIns="45720">
            <a:spAutoFit/>
          </a:bodyPr>
          <a:lstStyle/>
          <a:p>
            <a:pPr>
              <a:spcAft>
                <a:spcPts val="600"/>
              </a:spcAft>
            </a:pPr>
            <a:r>
              <a:rPr sz="1700" b="0">
                <a:solidFill>
                  <a:srgbClr val="1F242B"/>
                </a:solidFill>
                <a:latin typeface="Calibri"/>
              </a:rPr>
              <a:t>•  Projects, expenses, risks and approvals live in spreadsheets, emails and decks</a:t>
            </a:r>
          </a:p>
          <a:p>
            <a:pPr>
              <a:spcAft>
                <a:spcPts val="600"/>
              </a:spcAft>
            </a:pPr>
            <a:r>
              <a:rPr sz="1700" b="0">
                <a:solidFill>
                  <a:srgbClr val="1F242B"/>
                </a:solidFill>
                <a:latin typeface="Calibri"/>
              </a:rPr>
              <a:t>•  No single, trusted view of delivery health or cost exposure</a:t>
            </a:r>
          </a:p>
          <a:p>
            <a:pPr>
              <a:spcAft>
                <a:spcPts val="600"/>
              </a:spcAft>
            </a:pPr>
            <a:r>
              <a:rPr sz="1700" b="0">
                <a:solidFill>
                  <a:srgbClr val="1F242B"/>
                </a:solidFill>
                <a:latin typeface="Calibri"/>
              </a:rPr>
              <a:t>•  Overdue work and budget overruns are found late</a:t>
            </a:r>
          </a:p>
        </p:txBody>
      </p:sp>
      <p:sp>
        <p:nvSpPr>
          <p:cNvPr id="8" name="TextBox 7"/>
          <p:cNvSpPr txBox="1"/>
          <p:nvPr/>
        </p:nvSpPr>
        <p:spPr>
          <a:xfrm>
            <a:off x="548640" y="3931920"/>
            <a:ext cx="5394960" cy="457200"/>
          </a:xfrm>
          <a:prstGeom prst="rect">
            <a:avLst/>
          </a:prstGeom>
          <a:noFill/>
        </p:spPr>
        <p:txBody>
          <a:bodyPr wrap="square" anchor="t" lIns="45720" rIns="45720">
            <a:spAutoFit/>
          </a:bodyPr>
          <a:lstStyle/>
          <a:p>
            <a:pPr>
              <a:spcAft>
                <a:spcPts val="600"/>
              </a:spcAft>
            </a:pPr>
            <a:r>
              <a:rPr sz="2000" b="1">
                <a:solidFill>
                  <a:srgbClr val="C8102E"/>
                </a:solidFill>
                <a:latin typeface="Calibri"/>
              </a:rPr>
              <a:t>The outcome</a:t>
            </a:r>
          </a:p>
        </p:txBody>
      </p:sp>
      <p:sp>
        <p:nvSpPr>
          <p:cNvPr id="9" name="TextBox 8"/>
          <p:cNvSpPr txBox="1"/>
          <p:nvPr/>
        </p:nvSpPr>
        <p:spPr>
          <a:xfrm>
            <a:off x="548640" y="4389120"/>
            <a:ext cx="5394960" cy="1828800"/>
          </a:xfrm>
          <a:prstGeom prst="rect">
            <a:avLst/>
          </a:prstGeom>
          <a:noFill/>
        </p:spPr>
        <p:txBody>
          <a:bodyPr wrap="square" anchor="t" lIns="45720" rIns="45720">
            <a:spAutoFit/>
          </a:bodyPr>
          <a:lstStyle/>
          <a:p>
            <a:pPr>
              <a:spcAft>
                <a:spcPts val="600"/>
              </a:spcAft>
            </a:pPr>
            <a:r>
              <a:rPr sz="1700" b="0">
                <a:solidFill>
                  <a:srgbClr val="1F242B"/>
                </a:solidFill>
                <a:latin typeface="Calibri"/>
              </a:rPr>
              <a:t>•  One portal for teams to maintain records</a:t>
            </a:r>
          </a:p>
          <a:p>
            <a:pPr>
              <a:spcAft>
                <a:spcPts val="600"/>
              </a:spcAft>
            </a:pPr>
            <a:r>
              <a:rPr sz="1700" b="0">
                <a:solidFill>
                  <a:srgbClr val="1F242B"/>
                </a:solidFill>
                <a:latin typeface="Calibri"/>
              </a:rPr>
              <a:t>•  One executive dashboard with live, scope-aware KPIs</a:t>
            </a:r>
          </a:p>
          <a:p>
            <a:pPr>
              <a:spcAft>
                <a:spcPts val="600"/>
              </a:spcAft>
            </a:pPr>
            <a:r>
              <a:rPr sz="1700" b="0">
                <a:solidFill>
                  <a:srgbClr val="1F242B"/>
                </a:solidFill>
                <a:latin typeface="Calibri"/>
              </a:rPr>
              <a:t>•  Every number traceable to database rows</a:t>
            </a:r>
          </a:p>
        </p:txBody>
      </p:sp>
      <p:sp>
        <p:nvSpPr>
          <p:cNvPr id="10" name="TextBox 9"/>
          <p:cNvSpPr txBox="1"/>
          <p:nvPr/>
        </p:nvSpPr>
        <p:spPr>
          <a:xfrm>
            <a:off x="6400800" y="1371600"/>
            <a:ext cx="5303520" cy="457200"/>
          </a:xfrm>
          <a:prstGeom prst="rect">
            <a:avLst/>
          </a:prstGeom>
          <a:noFill/>
        </p:spPr>
        <p:txBody>
          <a:bodyPr wrap="square" anchor="t" lIns="45720" rIns="45720">
            <a:spAutoFit/>
          </a:bodyPr>
          <a:lstStyle/>
          <a:p>
            <a:pPr>
              <a:spcAft>
                <a:spcPts val="600"/>
              </a:spcAft>
            </a:pPr>
            <a:r>
              <a:rPr sz="2000" b="1">
                <a:solidFill>
                  <a:srgbClr val="C8102E"/>
                </a:solidFill>
                <a:latin typeface="Calibri"/>
              </a:rPr>
              <a:t>Six journeys, all demonstrable</a:t>
            </a:r>
          </a:p>
        </p:txBody>
      </p:sp>
      <p:sp>
        <p:nvSpPr>
          <p:cNvPr id="11" name="Rounded Rectangle 10"/>
          <p:cNvSpPr/>
          <p:nvPr/>
        </p:nvSpPr>
        <p:spPr>
          <a:xfrm>
            <a:off x="6400800" y="1874519"/>
            <a:ext cx="457200" cy="548640"/>
          </a:xfrm>
          <a:prstGeom prst="roundRect">
            <a:avLst>
              <a:gd name="adj" fmla="val 12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rPr>
              <a:t>1</a:t>
            </a:r>
          </a:p>
        </p:txBody>
      </p:sp>
      <p:sp>
        <p:nvSpPr>
          <p:cNvPr id="12" name="TextBox 11"/>
          <p:cNvSpPr txBox="1"/>
          <p:nvPr/>
        </p:nvSpPr>
        <p:spPr>
          <a:xfrm>
            <a:off x="6995160" y="1874519"/>
            <a:ext cx="4663440" cy="640080"/>
          </a:xfrm>
          <a:prstGeom prst="rect">
            <a:avLst/>
          </a:prstGeom>
          <a:noFill/>
        </p:spPr>
        <p:txBody>
          <a:bodyPr wrap="square" anchor="ctr" lIns="45720" rIns="45720">
            <a:spAutoFit/>
          </a:bodyPr>
          <a:lstStyle/>
          <a:p>
            <a:pPr>
              <a:spcAft>
                <a:spcPts val="600"/>
              </a:spcAft>
            </a:pPr>
            <a:r>
              <a:rPr sz="1500" b="0">
                <a:solidFill>
                  <a:srgbClr val="1F242B"/>
                </a:solidFill>
                <a:latin typeface="Calibri"/>
              </a:rPr>
              <a:t>Project manager creates a project, owner, dates, approved budget</a:t>
            </a:r>
          </a:p>
        </p:txBody>
      </p:sp>
      <p:sp>
        <p:nvSpPr>
          <p:cNvPr id="13" name="Rounded Rectangle 12"/>
          <p:cNvSpPr/>
          <p:nvPr/>
        </p:nvSpPr>
        <p:spPr>
          <a:xfrm>
            <a:off x="6400800" y="2587752"/>
            <a:ext cx="457200" cy="548640"/>
          </a:xfrm>
          <a:prstGeom prst="roundRect">
            <a:avLst>
              <a:gd name="adj" fmla="val 12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rPr>
              <a:t>2</a:t>
            </a:r>
          </a:p>
        </p:txBody>
      </p:sp>
      <p:sp>
        <p:nvSpPr>
          <p:cNvPr id="14" name="TextBox 13"/>
          <p:cNvSpPr txBox="1"/>
          <p:nvPr/>
        </p:nvSpPr>
        <p:spPr>
          <a:xfrm>
            <a:off x="6995160" y="2587752"/>
            <a:ext cx="4663440" cy="640080"/>
          </a:xfrm>
          <a:prstGeom prst="rect">
            <a:avLst/>
          </a:prstGeom>
          <a:noFill/>
        </p:spPr>
        <p:txBody>
          <a:bodyPr wrap="square" anchor="ctr" lIns="45720" rIns="45720">
            <a:spAutoFit/>
          </a:bodyPr>
          <a:lstStyle/>
          <a:p>
            <a:pPr>
              <a:spcAft>
                <a:spcPts val="600"/>
              </a:spcAft>
            </a:pPr>
            <a:r>
              <a:rPr sz="1500" b="0">
                <a:solidFill>
                  <a:srgbClr val="1F242B"/>
                </a:solidFill>
                <a:latin typeface="Calibri"/>
              </a:rPr>
              <a:t>Team member updates a task; progress and dashboard change</a:t>
            </a:r>
          </a:p>
        </p:txBody>
      </p:sp>
      <p:sp>
        <p:nvSpPr>
          <p:cNvPr id="15" name="Rounded Rectangle 14"/>
          <p:cNvSpPr/>
          <p:nvPr/>
        </p:nvSpPr>
        <p:spPr>
          <a:xfrm>
            <a:off x="6400800" y="3300984"/>
            <a:ext cx="457200" cy="548640"/>
          </a:xfrm>
          <a:prstGeom prst="roundRect">
            <a:avLst>
              <a:gd name="adj" fmla="val 12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rPr>
              <a:t>3</a:t>
            </a:r>
          </a:p>
        </p:txBody>
      </p:sp>
      <p:sp>
        <p:nvSpPr>
          <p:cNvPr id="16" name="TextBox 15"/>
          <p:cNvSpPr txBox="1"/>
          <p:nvPr/>
        </p:nvSpPr>
        <p:spPr>
          <a:xfrm>
            <a:off x="6995160" y="3300984"/>
            <a:ext cx="4663440" cy="640080"/>
          </a:xfrm>
          <a:prstGeom prst="rect">
            <a:avLst/>
          </a:prstGeom>
          <a:noFill/>
        </p:spPr>
        <p:txBody>
          <a:bodyPr wrap="square" anchor="ctr" lIns="45720" rIns="45720">
            <a:spAutoFit/>
          </a:bodyPr>
          <a:lstStyle/>
          <a:p>
            <a:pPr>
              <a:spcAft>
                <a:spcPts val="600"/>
              </a:spcAft>
            </a:pPr>
            <a:r>
              <a:rPr sz="1500" b="0">
                <a:solidFill>
                  <a:srgbClr val="1F242B"/>
                </a:solidFill>
                <a:latin typeface="Calibri"/>
              </a:rPr>
              <a:t>Manager updates a milestone or risk with validation</a:t>
            </a:r>
          </a:p>
        </p:txBody>
      </p:sp>
      <p:sp>
        <p:nvSpPr>
          <p:cNvPr id="17" name="Rounded Rectangle 16"/>
          <p:cNvSpPr/>
          <p:nvPr/>
        </p:nvSpPr>
        <p:spPr>
          <a:xfrm>
            <a:off x="6400800" y="4014215"/>
            <a:ext cx="457200" cy="548640"/>
          </a:xfrm>
          <a:prstGeom prst="roundRect">
            <a:avLst>
              <a:gd name="adj" fmla="val 12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rPr>
              <a:t>4</a:t>
            </a:r>
          </a:p>
        </p:txBody>
      </p:sp>
      <p:sp>
        <p:nvSpPr>
          <p:cNvPr id="18" name="TextBox 17"/>
          <p:cNvSpPr txBox="1"/>
          <p:nvPr/>
        </p:nvSpPr>
        <p:spPr>
          <a:xfrm>
            <a:off x="6995160" y="4014215"/>
            <a:ext cx="4663440" cy="640080"/>
          </a:xfrm>
          <a:prstGeom prst="rect">
            <a:avLst/>
          </a:prstGeom>
          <a:noFill/>
        </p:spPr>
        <p:txBody>
          <a:bodyPr wrap="square" anchor="ctr" lIns="45720" rIns="45720">
            <a:spAutoFit/>
          </a:bodyPr>
          <a:lstStyle/>
          <a:p>
            <a:pPr>
              <a:spcAft>
                <a:spcPts val="600"/>
              </a:spcAft>
            </a:pPr>
            <a:r>
              <a:rPr sz="1500" b="0">
                <a:solidFill>
                  <a:srgbClr val="1F242B"/>
                </a:solidFill>
                <a:latin typeface="Calibri"/>
              </a:rPr>
              <a:t>Authorised user posts a cost; spend and utilisation update from SQL</a:t>
            </a:r>
          </a:p>
        </p:txBody>
      </p:sp>
      <p:sp>
        <p:nvSpPr>
          <p:cNvPr id="19" name="Rounded Rectangle 18"/>
          <p:cNvSpPr/>
          <p:nvPr/>
        </p:nvSpPr>
        <p:spPr>
          <a:xfrm>
            <a:off x="6400800" y="4727448"/>
            <a:ext cx="457200" cy="548640"/>
          </a:xfrm>
          <a:prstGeom prst="roundRect">
            <a:avLst>
              <a:gd name="adj" fmla="val 12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rPr>
              <a:t>5</a:t>
            </a:r>
          </a:p>
        </p:txBody>
      </p:sp>
      <p:sp>
        <p:nvSpPr>
          <p:cNvPr id="20" name="TextBox 19"/>
          <p:cNvSpPr txBox="1"/>
          <p:nvPr/>
        </p:nvSpPr>
        <p:spPr>
          <a:xfrm>
            <a:off x="6995160" y="4727448"/>
            <a:ext cx="4663440" cy="640080"/>
          </a:xfrm>
          <a:prstGeom prst="rect">
            <a:avLst/>
          </a:prstGeom>
          <a:noFill/>
        </p:spPr>
        <p:txBody>
          <a:bodyPr wrap="square" anchor="ctr" lIns="45720" rIns="45720">
            <a:spAutoFit/>
          </a:bodyPr>
          <a:lstStyle/>
          <a:p>
            <a:pPr>
              <a:spcAft>
                <a:spcPts val="600"/>
              </a:spcAft>
            </a:pPr>
            <a:r>
              <a:rPr sz="1500" b="0">
                <a:solidFill>
                  <a:srgbClr val="1F242B"/>
                </a:solidFill>
                <a:latin typeface="Calibri"/>
              </a:rPr>
              <a:t>Change request reviewed in a controlled workflow with history</a:t>
            </a:r>
          </a:p>
        </p:txBody>
      </p:sp>
      <p:sp>
        <p:nvSpPr>
          <p:cNvPr id="21" name="Rounded Rectangle 20"/>
          <p:cNvSpPr/>
          <p:nvPr/>
        </p:nvSpPr>
        <p:spPr>
          <a:xfrm>
            <a:off x="6400800" y="5440680"/>
            <a:ext cx="457200" cy="548640"/>
          </a:xfrm>
          <a:prstGeom prst="roundRect">
            <a:avLst>
              <a:gd name="adj" fmla="val 12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rPr>
              <a:t>6</a:t>
            </a:r>
          </a:p>
        </p:txBody>
      </p:sp>
      <p:sp>
        <p:nvSpPr>
          <p:cNvPr id="22" name="TextBox 21"/>
          <p:cNvSpPr txBox="1"/>
          <p:nvPr/>
        </p:nvSpPr>
        <p:spPr>
          <a:xfrm>
            <a:off x="6995160" y="5440680"/>
            <a:ext cx="4663440" cy="640080"/>
          </a:xfrm>
          <a:prstGeom prst="rect">
            <a:avLst/>
          </a:prstGeom>
          <a:noFill/>
        </p:spPr>
        <p:txBody>
          <a:bodyPr wrap="square" anchor="ctr" lIns="45720" rIns="45720">
            <a:spAutoFit/>
          </a:bodyPr>
          <a:lstStyle/>
          <a:p>
            <a:pPr>
              <a:spcAft>
                <a:spcPts val="600"/>
              </a:spcAft>
            </a:pPr>
            <a:r>
              <a:rPr sz="1500" b="0">
                <a:solidFill>
                  <a:srgbClr val="1F242B"/>
                </a:solidFill>
                <a:latin typeface="Calibri"/>
              </a:rPr>
              <a:t>Manager filters the dashboard and drills down to the records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nchor="t" lIns="45720" rIns="45720">
            <a:spAutoFit/>
          </a:bodyPr>
          <a:lstStyle/>
          <a:p>
            <a:pPr>
              <a:spcAft>
                <a:spcPts val="600"/>
              </a:spcAft>
            </a:pPr>
            <a:r>
              <a:rPr sz="3000" b="1">
                <a:solidFill>
                  <a:srgbClr val="1F242B"/>
                </a:solidFill>
                <a:latin typeface="Calibri"/>
              </a:rPr>
              <a:t>Solution overview: seven connected modules on one database</a:t>
            </a:r>
          </a:p>
        </p:txBody>
      </p:sp>
      <p:sp>
        <p:nvSpPr>
          <p:cNvPr id="4" name="TextBox 3"/>
          <p:cNvSpPr txBox="1"/>
          <p:nvPr/>
        </p:nvSpPr>
        <p:spPr>
          <a:xfrm>
            <a:off x="548640" y="6419088"/>
            <a:ext cx="8229600" cy="274320"/>
          </a:xfrm>
          <a:prstGeom prst="rect">
            <a:avLst/>
          </a:prstGeom>
          <a:noFill/>
        </p:spPr>
        <p:txBody>
          <a:bodyPr wrap="square" anchor="t" lIns="45720" rIns="45720">
            <a:spAutoFit/>
          </a:bodyPr>
          <a:lstStyle/>
          <a:p>
            <a:pPr>
              <a:spcAft>
                <a:spcPts val="600"/>
              </a:spcAft>
            </a:pPr>
            <a:r>
              <a:rPr sz="1000" b="0">
                <a:solidFill>
                  <a:srgbClr val="5B6470"/>
                </a:solidFill>
                <a:latin typeface="Calibri"/>
              </a:rPr>
              <a:t>PMO Portfolio &amp; Financial Control Portal  |  baseline 30 September 2026, all data fictional</a:t>
            </a:r>
          </a:p>
        </p:txBody>
      </p:sp>
      <p:sp>
        <p:nvSpPr>
          <p:cNvPr id="5" name="TextBox 4"/>
          <p:cNvSpPr txBox="1"/>
          <p:nvPr/>
        </p:nvSpPr>
        <p:spPr>
          <a:xfrm>
            <a:off x="10972800" y="6419088"/>
            <a:ext cx="731520" cy="274320"/>
          </a:xfrm>
          <a:prstGeom prst="rect">
            <a:avLst/>
          </a:prstGeom>
          <a:noFill/>
        </p:spPr>
        <p:txBody>
          <a:bodyPr wrap="square" anchor="t" lIns="45720" rIns="45720">
            <a:spAutoFit/>
          </a:bodyPr>
          <a:lstStyle/>
          <a:p>
            <a:pPr>
              <a:spcAft>
                <a:spcPts val="600"/>
              </a:spcAft>
            </a:pPr>
            <a:r>
              <a:rPr sz="1000" b="0">
                <a:solidFill>
                  <a:srgbClr val="5B6470"/>
                </a:solidFill>
                <a:latin typeface="Calibri"/>
              </a:rPr>
              <a:t>2</a:t>
            </a:r>
          </a:p>
        </p:txBody>
      </p:sp>
      <p:sp>
        <p:nvSpPr>
          <p:cNvPr id="6" name="Rounded Rectangle 5"/>
          <p:cNvSpPr/>
          <p:nvPr/>
        </p:nvSpPr>
        <p:spPr>
          <a:xfrm>
            <a:off x="548640" y="1280160"/>
            <a:ext cx="3657600" cy="2926080"/>
          </a:xfrm>
          <a:prstGeom prst="roundRect">
            <a:avLst>
              <a:gd name="adj" fmla="val 6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353312"/>
            <a:ext cx="3438144" cy="365760"/>
          </a:xfrm>
          <a:prstGeom prst="rect">
            <a:avLst/>
          </a:prstGeom>
          <a:noFill/>
        </p:spPr>
        <p:txBody>
          <a:bodyPr wrap="square" anchor="t" lIns="45720" rIns="45720">
            <a:spAutoFit/>
          </a:bodyPr>
          <a:lstStyle/>
          <a:p>
            <a:pPr>
              <a:spcAft>
                <a:spcPts val="600"/>
              </a:spcAft>
            </a:pPr>
            <a:r>
              <a:rPr sz="1500" b="1">
                <a:solidFill>
                  <a:srgbClr val="C8102E"/>
                </a:solidFill>
                <a:latin typeface="Calibri"/>
              </a:rPr>
              <a:t>Modules</a:t>
            </a:r>
          </a:p>
        </p:txBody>
      </p:sp>
      <p:sp>
        <p:nvSpPr>
          <p:cNvPr id="8" name="TextBox 7"/>
          <p:cNvSpPr txBox="1"/>
          <p:nvPr/>
        </p:nvSpPr>
        <p:spPr>
          <a:xfrm>
            <a:off x="658368" y="1737360"/>
            <a:ext cx="3438144" cy="2423160"/>
          </a:xfrm>
          <a:prstGeom prst="rect">
            <a:avLst/>
          </a:prstGeom>
          <a:noFill/>
        </p:spPr>
        <p:txBody>
          <a:bodyPr wrap="square" anchor="t" lIns="45720" rIns="45720">
            <a:spAutoFit/>
          </a:bodyPr>
          <a:lstStyle/>
          <a:p>
            <a:pPr>
              <a:spcAft>
                <a:spcPts val="600"/>
              </a:spcAft>
            </a:pPr>
            <a:r>
              <a:rPr sz="1500" b="0">
                <a:solidFill>
                  <a:srgbClr val="1F242B"/>
                </a:solidFill>
                <a:latin typeface="Calibri"/>
              </a:rPr>
              <a:t>Project portfolio</a:t>
            </a:r>
          </a:p>
          <a:p>
            <a:pPr>
              <a:spcAft>
                <a:spcPts val="600"/>
              </a:spcAft>
            </a:pPr>
            <a:r>
              <a:rPr sz="1500" b="0">
                <a:solidFill>
                  <a:srgbClr val="1F242B"/>
                </a:solidFill>
                <a:latin typeface="Calibri"/>
              </a:rPr>
              <a:t>Tasks and milestones</a:t>
            </a:r>
          </a:p>
          <a:p>
            <a:pPr>
              <a:spcAft>
                <a:spcPts val="600"/>
              </a:spcAft>
            </a:pPr>
            <a:r>
              <a:rPr sz="1500" b="0">
                <a:solidFill>
                  <a:srgbClr val="1F242B"/>
                </a:solidFill>
                <a:latin typeface="Calibri"/>
              </a:rPr>
              <a:t>Risks and issues</a:t>
            </a:r>
          </a:p>
          <a:p>
            <a:pPr>
              <a:spcAft>
                <a:spcPts val="600"/>
              </a:spcAft>
            </a:pPr>
            <a:r>
              <a:rPr sz="1500" b="0">
                <a:solidFill>
                  <a:srgbClr val="1F242B"/>
                </a:solidFill>
                <a:latin typeface="Calibri"/>
              </a:rPr>
              <a:t>Change requests and approvals</a:t>
            </a:r>
          </a:p>
          <a:p>
            <a:pPr>
              <a:spcAft>
                <a:spcPts val="600"/>
              </a:spcAft>
            </a:pPr>
            <a:r>
              <a:rPr sz="1500" b="0">
                <a:solidFill>
                  <a:srgbClr val="1F242B"/>
                </a:solidFill>
                <a:latin typeface="Calibri"/>
              </a:rPr>
              <a:t>Financial management</a:t>
            </a:r>
          </a:p>
          <a:p>
            <a:pPr>
              <a:spcAft>
                <a:spcPts val="600"/>
              </a:spcAft>
            </a:pPr>
            <a:r>
              <a:rPr sz="1500" b="0">
                <a:solidFill>
                  <a:srgbClr val="1F242B"/>
                </a:solidFill>
                <a:latin typeface="Calibri"/>
              </a:rPr>
              <a:t>Executive dashboard</a:t>
            </a:r>
          </a:p>
          <a:p>
            <a:pPr>
              <a:spcAft>
                <a:spcPts val="600"/>
              </a:spcAft>
            </a:pPr>
            <a:r>
              <a:rPr sz="1500" b="0">
                <a:solidFill>
                  <a:srgbClr val="1F242B"/>
                </a:solidFill>
                <a:latin typeface="Calibri"/>
              </a:rPr>
              <a:t>Access, activity and admin</a:t>
            </a:r>
          </a:p>
        </p:txBody>
      </p:sp>
      <p:sp>
        <p:nvSpPr>
          <p:cNvPr id="9" name="Rounded Rectangle 8"/>
          <p:cNvSpPr/>
          <p:nvPr/>
        </p:nvSpPr>
        <p:spPr>
          <a:xfrm>
            <a:off x="4389120" y="1280160"/>
            <a:ext cx="3566160" cy="2926080"/>
          </a:xfrm>
          <a:prstGeom prst="roundRect">
            <a:avLst>
              <a:gd name="adj" fmla="val 6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8848" y="1353312"/>
            <a:ext cx="3346704" cy="365760"/>
          </a:xfrm>
          <a:prstGeom prst="rect">
            <a:avLst/>
          </a:prstGeom>
          <a:noFill/>
        </p:spPr>
        <p:txBody>
          <a:bodyPr wrap="square" anchor="t" lIns="45720" rIns="45720">
            <a:spAutoFit/>
          </a:bodyPr>
          <a:lstStyle/>
          <a:p>
            <a:pPr>
              <a:spcAft>
                <a:spcPts val="600"/>
              </a:spcAft>
            </a:pPr>
            <a:r>
              <a:rPr sz="1500" b="1">
                <a:solidFill>
                  <a:srgbClr val="C8102E"/>
                </a:solidFill>
                <a:latin typeface="Calibri"/>
              </a:rPr>
              <a:t>Roles (enforced by the API)</a:t>
            </a:r>
          </a:p>
        </p:txBody>
      </p:sp>
      <p:sp>
        <p:nvSpPr>
          <p:cNvPr id="11" name="TextBox 10"/>
          <p:cNvSpPr txBox="1"/>
          <p:nvPr/>
        </p:nvSpPr>
        <p:spPr>
          <a:xfrm>
            <a:off x="4498848" y="1737360"/>
            <a:ext cx="3346704" cy="2423160"/>
          </a:xfrm>
          <a:prstGeom prst="rect">
            <a:avLst/>
          </a:prstGeom>
          <a:noFill/>
        </p:spPr>
        <p:txBody>
          <a:bodyPr wrap="square" anchor="t" lIns="45720" rIns="45720">
            <a:spAutoFit/>
          </a:bodyPr>
          <a:lstStyle/>
          <a:p>
            <a:pPr>
              <a:spcAft>
                <a:spcPts val="600"/>
              </a:spcAft>
            </a:pPr>
            <a:r>
              <a:rPr sz="1500" b="0">
                <a:solidFill>
                  <a:srgbClr val="1F242B"/>
                </a:solidFill>
                <a:latin typeface="Calibri"/>
              </a:rPr>
              <a:t>Contributor: own task progress, submit change requests</a:t>
            </a:r>
          </a:p>
          <a:p>
            <a:pPr>
              <a:spcAft>
                <a:spcPts val="600"/>
              </a:spcAft>
            </a:pPr>
            <a:r>
              <a:rPr sz="1500" b="0">
                <a:solidFill>
                  <a:srgbClr val="1F242B"/>
                </a:solidFill>
                <a:latin typeface="Calibri"/>
              </a:rPr>
              <a:t>Project Manager: manage assigned projects, post costs, decide requests (never own)</a:t>
            </a:r>
          </a:p>
          <a:p>
            <a:pPr>
              <a:spcAft>
                <a:spcPts val="600"/>
              </a:spcAft>
            </a:pPr>
            <a:r>
              <a:rPr sz="1500" b="0">
                <a:solidFill>
                  <a:srgbClr val="1F242B"/>
                </a:solidFill>
                <a:latin typeface="Calibri"/>
              </a:rPr>
              <a:t>Administrator: all projects, roles, audit, automation</a:t>
            </a:r>
          </a:p>
        </p:txBody>
      </p:sp>
      <p:sp>
        <p:nvSpPr>
          <p:cNvPr id="12" name="Rounded Rectangle 11"/>
          <p:cNvSpPr/>
          <p:nvPr/>
        </p:nvSpPr>
        <p:spPr>
          <a:xfrm>
            <a:off x="8138160" y="1280160"/>
            <a:ext cx="3520440" cy="2926080"/>
          </a:xfrm>
          <a:prstGeom prst="roundRect">
            <a:avLst>
              <a:gd name="adj" fmla="val 6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7888" y="1353312"/>
            <a:ext cx="3300984" cy="365760"/>
          </a:xfrm>
          <a:prstGeom prst="rect">
            <a:avLst/>
          </a:prstGeom>
          <a:noFill/>
        </p:spPr>
        <p:txBody>
          <a:bodyPr wrap="square" anchor="t" lIns="45720" rIns="45720">
            <a:spAutoFit/>
          </a:bodyPr>
          <a:lstStyle/>
          <a:p>
            <a:pPr>
              <a:spcAft>
                <a:spcPts val="600"/>
              </a:spcAft>
            </a:pPr>
            <a:r>
              <a:rPr sz="1500" b="1">
                <a:solidFill>
                  <a:srgbClr val="C8102E"/>
                </a:solidFill>
                <a:latin typeface="Calibri"/>
              </a:rPr>
              <a:t>Stack</a:t>
            </a:r>
          </a:p>
        </p:txBody>
      </p:sp>
      <p:sp>
        <p:nvSpPr>
          <p:cNvPr id="14" name="TextBox 13"/>
          <p:cNvSpPr txBox="1"/>
          <p:nvPr/>
        </p:nvSpPr>
        <p:spPr>
          <a:xfrm>
            <a:off x="8247888" y="1737360"/>
            <a:ext cx="3300984" cy="2423160"/>
          </a:xfrm>
          <a:prstGeom prst="rect">
            <a:avLst/>
          </a:prstGeom>
          <a:noFill/>
        </p:spPr>
        <p:txBody>
          <a:bodyPr wrap="square" anchor="t" lIns="45720" rIns="45720">
            <a:spAutoFit/>
          </a:bodyPr>
          <a:lstStyle/>
          <a:p>
            <a:pPr>
              <a:spcAft>
                <a:spcPts val="600"/>
              </a:spcAft>
            </a:pPr>
            <a:r>
              <a:rPr sz="1500" b="0">
                <a:solidFill>
                  <a:srgbClr val="1F242B"/>
                </a:solidFill>
                <a:latin typeface="Calibri"/>
              </a:rPr>
              <a:t>ASP.NET Core, .NET 10</a:t>
            </a:r>
          </a:p>
          <a:p>
            <a:pPr>
              <a:spcAft>
                <a:spcPts val="600"/>
              </a:spcAft>
            </a:pPr>
            <a:r>
              <a:rPr sz="1500" b="0">
                <a:solidFill>
                  <a:srgbClr val="1F242B"/>
                </a:solidFill>
                <a:latin typeface="Calibri"/>
              </a:rPr>
              <a:t>PostgreSQL 16, EF Core + Dapper</a:t>
            </a:r>
          </a:p>
          <a:p>
            <a:pPr>
              <a:spcAft>
                <a:spcPts val="600"/>
              </a:spcAft>
            </a:pPr>
            <a:r>
              <a:rPr sz="1500" b="0">
                <a:solidFill>
                  <a:srgbClr val="1F242B"/>
                </a:solidFill>
                <a:latin typeface="Calibri"/>
              </a:rPr>
              <a:t>Angular 22, Material, ECharts</a:t>
            </a:r>
          </a:p>
          <a:p>
            <a:pPr>
              <a:spcAft>
                <a:spcPts val="600"/>
              </a:spcAft>
            </a:pPr>
            <a:r>
              <a:rPr sz="1500" b="0">
                <a:solidFill>
                  <a:srgbClr val="1F242B"/>
                </a:solidFill>
                <a:latin typeface="Calibri"/>
              </a:rPr>
              <a:t>JWT + refresh cookie, Serilog</a:t>
            </a:r>
          </a:p>
        </p:txBody>
      </p:sp>
      <p:sp>
        <p:nvSpPr>
          <p:cNvPr id="15" name="TextBox 14"/>
          <p:cNvSpPr txBox="1"/>
          <p:nvPr/>
        </p:nvSpPr>
        <p:spPr>
          <a:xfrm>
            <a:off x="548640" y="4297680"/>
            <a:ext cx="10972800" cy="457200"/>
          </a:xfrm>
          <a:prstGeom prst="rect">
            <a:avLst/>
          </a:prstGeom>
          <a:noFill/>
        </p:spPr>
        <p:txBody>
          <a:bodyPr wrap="square" anchor="t" lIns="45720" rIns="45720">
            <a:spAutoFit/>
          </a:bodyPr>
          <a:lstStyle/>
          <a:p>
            <a:pPr>
              <a:spcAft>
                <a:spcPts val="600"/>
              </a:spcAft>
            </a:pPr>
            <a:r>
              <a:rPr sz="1800" b="1">
                <a:solidFill>
                  <a:srgbClr val="C8102E"/>
                </a:solidFill>
                <a:latin typeface="Calibri"/>
              </a:rPr>
              <a:t>Running on a reproducible synthetic dataset (seed 20260930)</a:t>
            </a:r>
          </a:p>
        </p:txBody>
      </p:sp>
      <p:sp>
        <p:nvSpPr>
          <p:cNvPr id="16" name="Rounded Rectangle 15"/>
          <p:cNvSpPr/>
          <p:nvPr/>
        </p:nvSpPr>
        <p:spPr>
          <a:xfrm>
            <a:off x="548640" y="4800600"/>
            <a:ext cx="1691640" cy="1051560"/>
          </a:xfrm>
          <a:prstGeom prst="roundRect">
            <a:avLst>
              <a:gd name="adj" fmla="val 12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600" b="1">
                <a:solidFill>
                  <a:srgbClr val="1F242B"/>
                </a:solidFill>
                <a:latin typeface="Calibri"/>
              </a:rPr>
              <a:t>10</a:t>
            </a:r>
          </a:p>
          <a:p>
            <a:pPr algn="ctr"/>
            <a:r>
              <a:rPr sz="1400" b="0">
                <a:solidFill>
                  <a:srgbClr val="1F242B"/>
                </a:solidFill>
                <a:latin typeface="Calibri"/>
              </a:rPr>
              <a:t>projects</a:t>
            </a:r>
          </a:p>
        </p:txBody>
      </p:sp>
      <p:sp>
        <p:nvSpPr>
          <p:cNvPr id="17" name="Rounded Rectangle 16"/>
          <p:cNvSpPr/>
          <p:nvPr/>
        </p:nvSpPr>
        <p:spPr>
          <a:xfrm>
            <a:off x="2423160" y="4800600"/>
            <a:ext cx="1691640" cy="1051560"/>
          </a:xfrm>
          <a:prstGeom prst="roundRect">
            <a:avLst>
              <a:gd name="adj" fmla="val 12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600" b="1">
                <a:solidFill>
                  <a:srgbClr val="1F242B"/>
                </a:solidFill>
                <a:latin typeface="Calibri"/>
              </a:rPr>
              <a:t>118</a:t>
            </a:r>
          </a:p>
          <a:p>
            <a:pPr algn="ctr"/>
            <a:r>
              <a:rPr sz="1400" b="0">
                <a:solidFill>
                  <a:srgbClr val="1F242B"/>
                </a:solidFill>
                <a:latin typeface="Calibri"/>
              </a:rPr>
              <a:t>tasks</a:t>
            </a:r>
          </a:p>
        </p:txBody>
      </p:sp>
      <p:sp>
        <p:nvSpPr>
          <p:cNvPr id="18" name="Rounded Rectangle 17"/>
          <p:cNvSpPr/>
          <p:nvPr/>
        </p:nvSpPr>
        <p:spPr>
          <a:xfrm>
            <a:off x="4297679" y="4800600"/>
            <a:ext cx="1691640" cy="1051560"/>
          </a:xfrm>
          <a:prstGeom prst="roundRect">
            <a:avLst>
              <a:gd name="adj" fmla="val 12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600" b="1">
                <a:solidFill>
                  <a:srgbClr val="1F242B"/>
                </a:solidFill>
                <a:latin typeface="Calibri"/>
              </a:rPr>
              <a:t>33</a:t>
            </a:r>
          </a:p>
          <a:p>
            <a:pPr algn="ctr"/>
            <a:r>
              <a:rPr sz="1400" b="0">
                <a:solidFill>
                  <a:srgbClr val="1F242B"/>
                </a:solidFill>
                <a:latin typeface="Calibri"/>
              </a:rPr>
              <a:t>milestones</a:t>
            </a:r>
          </a:p>
        </p:txBody>
      </p:sp>
      <p:sp>
        <p:nvSpPr>
          <p:cNvPr id="19" name="Rounded Rectangle 18"/>
          <p:cNvSpPr/>
          <p:nvPr/>
        </p:nvSpPr>
        <p:spPr>
          <a:xfrm>
            <a:off x="6172199" y="4800600"/>
            <a:ext cx="1691640" cy="1051560"/>
          </a:xfrm>
          <a:prstGeom prst="roundRect">
            <a:avLst>
              <a:gd name="adj" fmla="val 12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600" b="1">
                <a:solidFill>
                  <a:srgbClr val="1F242B"/>
                </a:solidFill>
                <a:latin typeface="Calibri"/>
              </a:rPr>
              <a:t>27</a:t>
            </a:r>
          </a:p>
          <a:p>
            <a:pPr algn="ctr"/>
            <a:r>
              <a:rPr sz="1400" b="0">
                <a:solidFill>
                  <a:srgbClr val="1F242B"/>
                </a:solidFill>
                <a:latin typeface="Calibri"/>
              </a:rPr>
              <a:t>risks and issues</a:t>
            </a:r>
          </a:p>
        </p:txBody>
      </p:sp>
      <p:sp>
        <p:nvSpPr>
          <p:cNvPr id="20" name="Rounded Rectangle 19"/>
          <p:cNvSpPr/>
          <p:nvPr/>
        </p:nvSpPr>
        <p:spPr>
          <a:xfrm>
            <a:off x="8046719" y="4800600"/>
            <a:ext cx="1691640" cy="1051560"/>
          </a:xfrm>
          <a:prstGeom prst="roundRect">
            <a:avLst>
              <a:gd name="adj" fmla="val 12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600" b="1">
                <a:solidFill>
                  <a:srgbClr val="1F242B"/>
                </a:solidFill>
                <a:latin typeface="Calibri"/>
              </a:rPr>
              <a:t>18</a:t>
            </a:r>
          </a:p>
          <a:p>
            <a:pPr algn="ctr"/>
            <a:r>
              <a:rPr sz="1400" b="0">
                <a:solidFill>
                  <a:srgbClr val="1F242B"/>
                </a:solidFill>
                <a:latin typeface="Calibri"/>
              </a:rPr>
              <a:t>change requests</a:t>
            </a:r>
          </a:p>
        </p:txBody>
      </p:sp>
      <p:sp>
        <p:nvSpPr>
          <p:cNvPr id="21" name="Rounded Rectangle 20"/>
          <p:cNvSpPr/>
          <p:nvPr/>
        </p:nvSpPr>
        <p:spPr>
          <a:xfrm>
            <a:off x="9921240" y="4800600"/>
            <a:ext cx="1691640" cy="1051560"/>
          </a:xfrm>
          <a:prstGeom prst="roundRect">
            <a:avLst>
              <a:gd name="adj" fmla="val 12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600" b="1">
                <a:solidFill>
                  <a:srgbClr val="1F242B"/>
                </a:solidFill>
                <a:latin typeface="Calibri"/>
              </a:rPr>
              <a:t>123</a:t>
            </a:r>
          </a:p>
          <a:p>
            <a:pPr algn="ctr"/>
            <a:r>
              <a:rPr sz="1400" b="0">
                <a:solidFill>
                  <a:srgbClr val="1F242B"/>
                </a:solidFill>
                <a:latin typeface="Calibri"/>
              </a:rPr>
              <a:t>cost transactions</a:t>
            </a:r>
          </a:p>
        </p:txBody>
      </p:sp>
      <p:sp>
        <p:nvSpPr>
          <p:cNvPr id="22" name="TextBox 21"/>
          <p:cNvSpPr txBox="1"/>
          <p:nvPr/>
        </p:nvSpPr>
        <p:spPr>
          <a:xfrm>
            <a:off x="548640" y="5943600"/>
            <a:ext cx="11155680" cy="457200"/>
          </a:xfrm>
          <a:prstGeom prst="rect">
            <a:avLst/>
          </a:prstGeom>
          <a:noFill/>
        </p:spPr>
        <p:txBody>
          <a:bodyPr wrap="square" anchor="t" lIns="45720" rIns="45720">
            <a:spAutoFit/>
          </a:bodyPr>
          <a:lstStyle/>
          <a:p>
            <a:pPr>
              <a:spcAft>
                <a:spcPts val="600"/>
              </a:spcAft>
            </a:pPr>
            <a:r>
              <a:rPr sz="1200" b="0">
                <a:solidFill>
                  <a:srgbClr val="5B6470"/>
                </a:solidFill>
                <a:latin typeface="Calibri"/>
              </a:rPr>
              <a:t>Edge cases built in: no-spend and no-forecast projects, overspend, overdue and unassigned tasks, draft and post-cutoff costs, pending and rejected revisions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nchor="t" lIns="45720" rIns="45720">
            <a:spAutoFit/>
          </a:bodyPr>
          <a:lstStyle/>
          <a:p>
            <a:pPr>
              <a:spcAft>
                <a:spcPts val="600"/>
              </a:spcAft>
            </a:pPr>
            <a:r>
              <a:rPr sz="3000" b="1">
                <a:solidFill>
                  <a:srgbClr val="1F242B"/>
                </a:solidFill>
                <a:latin typeface="Calibri"/>
              </a:rPr>
              <a:t>Architecture: thin controllers, rules in services, truth in SQL</a:t>
            </a:r>
          </a:p>
        </p:txBody>
      </p:sp>
      <p:sp>
        <p:nvSpPr>
          <p:cNvPr id="4" name="TextBox 3"/>
          <p:cNvSpPr txBox="1"/>
          <p:nvPr/>
        </p:nvSpPr>
        <p:spPr>
          <a:xfrm>
            <a:off x="548640" y="6419088"/>
            <a:ext cx="8229600" cy="274320"/>
          </a:xfrm>
          <a:prstGeom prst="rect">
            <a:avLst/>
          </a:prstGeom>
          <a:noFill/>
        </p:spPr>
        <p:txBody>
          <a:bodyPr wrap="square" anchor="t" lIns="45720" rIns="45720">
            <a:spAutoFit/>
          </a:bodyPr>
          <a:lstStyle/>
          <a:p>
            <a:pPr>
              <a:spcAft>
                <a:spcPts val="600"/>
              </a:spcAft>
            </a:pPr>
            <a:r>
              <a:rPr sz="1000" b="0">
                <a:solidFill>
                  <a:srgbClr val="5B6470"/>
                </a:solidFill>
                <a:latin typeface="Calibri"/>
              </a:rPr>
              <a:t>PMO Portfolio &amp; Financial Control Portal  |  baseline 30 September 2026, all data fictional</a:t>
            </a:r>
          </a:p>
        </p:txBody>
      </p:sp>
      <p:sp>
        <p:nvSpPr>
          <p:cNvPr id="5" name="TextBox 4"/>
          <p:cNvSpPr txBox="1"/>
          <p:nvPr/>
        </p:nvSpPr>
        <p:spPr>
          <a:xfrm>
            <a:off x="10972800" y="6419088"/>
            <a:ext cx="731520" cy="274320"/>
          </a:xfrm>
          <a:prstGeom prst="rect">
            <a:avLst/>
          </a:prstGeom>
          <a:noFill/>
        </p:spPr>
        <p:txBody>
          <a:bodyPr wrap="square" anchor="t" lIns="45720" rIns="45720">
            <a:spAutoFit/>
          </a:bodyPr>
          <a:lstStyle/>
          <a:p>
            <a:pPr>
              <a:spcAft>
                <a:spcPts val="600"/>
              </a:spcAft>
            </a:pPr>
            <a:r>
              <a:rPr sz="1000" b="0">
                <a:solidFill>
                  <a:srgbClr val="5B6470"/>
                </a:solidFill>
                <a:latin typeface="Calibri"/>
              </a:rPr>
              <a:t>3</a:t>
            </a:r>
          </a:p>
        </p:txBody>
      </p:sp>
      <p:sp>
        <p:nvSpPr>
          <p:cNvPr id="6" name="Rounded Rectangle 5"/>
          <p:cNvSpPr/>
          <p:nvPr/>
        </p:nvSpPr>
        <p:spPr>
          <a:xfrm>
            <a:off x="548640" y="2011680"/>
            <a:ext cx="2194560" cy="1371600"/>
          </a:xfrm>
          <a:prstGeom prst="roundRect">
            <a:avLst>
              <a:gd name="adj" fmla="val 12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Angular 22</a:t>
            </a:r>
          </a:p>
          <a:p>
            <a:pPr algn="ctr"/>
            <a:r>
              <a:rPr sz="1200" b="0">
                <a:solidFill>
                  <a:srgbClr val="FFFFFF"/>
                </a:solidFill>
                <a:latin typeface="Calibri"/>
              </a:rPr>
              <a:t>signals, interceptors, no KPI maths</a:t>
            </a:r>
          </a:p>
        </p:txBody>
      </p:sp>
      <p:sp>
        <p:nvSpPr>
          <p:cNvPr id="7" name="Right Arrow 6"/>
          <p:cNvSpPr/>
          <p:nvPr/>
        </p:nvSpPr>
        <p:spPr>
          <a:xfrm>
            <a:off x="2834640" y="2514600"/>
            <a:ext cx="502920" cy="320040"/>
          </a:xfrm>
          <a:prstGeom prst="rightArrow">
            <a:avLst/>
          </a:prstGeom>
          <a:solidFill>
            <a:srgbClr val="9AA3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74720" y="1554480"/>
            <a:ext cx="3291840" cy="960120"/>
          </a:xfrm>
          <a:prstGeom prst="roundRect">
            <a:avLst>
              <a:gd name="adj" fmla="val 12000"/>
            </a:avLst>
          </a:prstGeom>
          <a:solidFill>
            <a:srgbClr val="1F242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Api</a:t>
            </a:r>
          </a:p>
          <a:p>
            <a:pPr algn="ctr"/>
            <a:r>
              <a:rPr sz="1300" b="0">
                <a:solidFill>
                  <a:srgbClr val="FFFFFF"/>
                </a:solidFill>
                <a:latin typeface="Calibri"/>
              </a:rPr>
              <a:t>controllers, policies, ProblemDetails</a:t>
            </a:r>
          </a:p>
        </p:txBody>
      </p:sp>
      <p:sp>
        <p:nvSpPr>
          <p:cNvPr id="9" name="Rounded Rectangle 8"/>
          <p:cNvSpPr/>
          <p:nvPr/>
        </p:nvSpPr>
        <p:spPr>
          <a:xfrm>
            <a:off x="3474720" y="2697480"/>
            <a:ext cx="3291840" cy="960120"/>
          </a:xfrm>
          <a:prstGeom prst="roundRect">
            <a:avLst>
              <a:gd name="adj" fmla="val 12000"/>
            </a:avLst>
          </a:prstGeom>
          <a:solidFill>
            <a:srgbClr val="1F242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Application</a:t>
            </a:r>
          </a:p>
          <a:p>
            <a:pPr algn="ctr"/>
            <a:r>
              <a:rPr sz="1300" b="0">
                <a:solidFill>
                  <a:srgbClr val="FFFFFF"/>
                </a:solidFill>
                <a:latin typeface="Calibri"/>
              </a:rPr>
              <a:t>services, validators, transactions</a:t>
            </a:r>
          </a:p>
        </p:txBody>
      </p:sp>
      <p:sp>
        <p:nvSpPr>
          <p:cNvPr id="10" name="Rounded Rectangle 9"/>
          <p:cNvSpPr/>
          <p:nvPr/>
        </p:nvSpPr>
        <p:spPr>
          <a:xfrm>
            <a:off x="3474720" y="3840480"/>
            <a:ext cx="3291840" cy="960120"/>
          </a:xfrm>
          <a:prstGeom prst="roundRect">
            <a:avLst>
              <a:gd name="adj" fmla="val 12000"/>
            </a:avLst>
          </a:prstGeom>
          <a:solidFill>
            <a:srgbClr val="1F242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Domain</a:t>
            </a:r>
          </a:p>
          <a:p>
            <a:pPr algn="ctr"/>
            <a:r>
              <a:rPr sz="1300" b="0">
                <a:solidFill>
                  <a:srgbClr val="FFFFFF"/>
                </a:solidFill>
                <a:latin typeface="Calibri"/>
              </a:rPr>
              <a:t>entities and rules</a:t>
            </a:r>
          </a:p>
        </p:txBody>
      </p:sp>
      <p:sp>
        <p:nvSpPr>
          <p:cNvPr id="11" name="Right Arrow 10"/>
          <p:cNvSpPr/>
          <p:nvPr/>
        </p:nvSpPr>
        <p:spPr>
          <a:xfrm>
            <a:off x="6858000" y="2514600"/>
            <a:ext cx="502920" cy="320040"/>
          </a:xfrm>
          <a:prstGeom prst="rightArrow">
            <a:avLst/>
          </a:prstGeom>
          <a:solidFill>
            <a:srgbClr val="9AA3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98079" y="2011680"/>
            <a:ext cx="2194560" cy="1371600"/>
          </a:xfrm>
          <a:prstGeom prst="roundRect">
            <a:avLst>
              <a:gd name="adj" fmla="val 12000"/>
            </a:avLst>
          </a:prstGeom>
          <a:solidFill>
            <a:srgbClr val="1F242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PostgreSQL 16</a:t>
            </a:r>
          </a:p>
          <a:p>
            <a:pPr algn="ctr"/>
            <a:r>
              <a:rPr sz="1200" b="0">
                <a:solidFill>
                  <a:srgbClr val="FFFFFF"/>
                </a:solidFill>
                <a:latin typeface="Calibri"/>
              </a:rPr>
              <a:t>constraints, triggers, views</a:t>
            </a:r>
          </a:p>
        </p:txBody>
      </p:sp>
      <p:sp>
        <p:nvSpPr>
          <p:cNvPr id="13" name="Rounded Rectangle 12"/>
          <p:cNvSpPr/>
          <p:nvPr/>
        </p:nvSpPr>
        <p:spPr>
          <a:xfrm>
            <a:off x="7498079" y="3840480"/>
            <a:ext cx="2194560" cy="914400"/>
          </a:xfrm>
          <a:prstGeom prst="roundRect">
            <a:avLst>
              <a:gd name="adj" fmla="val 12000"/>
            </a:avLst>
          </a:prstGeom>
          <a:solidFill>
            <a:srgbClr val="5B647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Outbox worker</a:t>
            </a:r>
          </a:p>
          <a:p>
            <a:pPr algn="ctr"/>
            <a:r>
              <a:rPr sz="1200" b="0">
                <a:solidFill>
                  <a:srgbClr val="FFFFFF"/>
                </a:solidFill>
                <a:latin typeface="Calibri"/>
              </a:rPr>
              <a:t>BackgroundService</a:t>
            </a:r>
          </a:p>
        </p:txBody>
      </p:sp>
      <p:sp>
        <p:nvSpPr>
          <p:cNvPr id="14" name="Rounded Rectangle 13"/>
          <p:cNvSpPr/>
          <p:nvPr/>
        </p:nvSpPr>
        <p:spPr>
          <a:xfrm>
            <a:off x="10058400" y="2011680"/>
            <a:ext cx="1737360" cy="1371600"/>
          </a:xfrm>
          <a:prstGeom prst="roundRect">
            <a:avLst>
              <a:gd name="adj" fmla="val 12000"/>
            </a:avLst>
          </a:prstGeom>
          <a:solidFill>
            <a:srgbClr val="5B647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Power BI / psql</a:t>
            </a:r>
          </a:p>
          <a:p>
            <a:pPr algn="ctr"/>
            <a:r>
              <a:rPr sz="1200" b="0">
                <a:solidFill>
                  <a:srgbClr val="FFFFFF"/>
                </a:solidFill>
                <a:latin typeface="Calibri"/>
              </a:rPr>
              <a:t>read views</a:t>
            </a:r>
          </a:p>
        </p:txBody>
      </p:sp>
      <p:sp>
        <p:nvSpPr>
          <p:cNvPr id="15" name="TextBox 14"/>
          <p:cNvSpPr txBox="1"/>
          <p:nvPr/>
        </p:nvSpPr>
        <p:spPr>
          <a:xfrm>
            <a:off x="7498079" y="3429000"/>
            <a:ext cx="2194560" cy="365760"/>
          </a:xfrm>
          <a:prstGeom prst="rect">
            <a:avLst/>
          </a:prstGeom>
          <a:noFill/>
        </p:spPr>
        <p:txBody>
          <a:bodyPr wrap="square" anchor="t" lIns="45720" rIns="45720">
            <a:spAutoFit/>
          </a:bodyPr>
          <a:lstStyle/>
          <a:p>
            <a:pPr>
              <a:spcAft>
                <a:spcPts val="600"/>
              </a:spcAft>
            </a:pPr>
            <a:r>
              <a:rPr sz="1100" b="0">
                <a:solidFill>
                  <a:srgbClr val="5B6470"/>
                </a:solidFill>
                <a:latin typeface="Calibri"/>
              </a:rPr>
              <a:t>^ same database</a:t>
            </a:r>
          </a:p>
        </p:txBody>
      </p:sp>
      <p:sp>
        <p:nvSpPr>
          <p:cNvPr id="16" name="TextBox 15"/>
          <p:cNvSpPr txBox="1"/>
          <p:nvPr/>
        </p:nvSpPr>
        <p:spPr>
          <a:xfrm>
            <a:off x="548640" y="5029200"/>
            <a:ext cx="11155680" cy="1280160"/>
          </a:xfrm>
          <a:prstGeom prst="rect">
            <a:avLst/>
          </a:prstGeom>
          <a:noFill/>
        </p:spPr>
        <p:txBody>
          <a:bodyPr wrap="square" anchor="t" lIns="45720" rIns="45720">
            <a:spAutoFit/>
          </a:bodyPr>
          <a:lstStyle/>
          <a:p>
            <a:pPr>
              <a:spcAft>
                <a:spcPts val="600"/>
              </a:spcAft>
            </a:pPr>
            <a:r>
              <a:rPr sz="1500" b="0">
                <a:solidFill>
                  <a:srgbClr val="1F242B"/>
                </a:solidFill>
                <a:latin typeface="Calibri"/>
              </a:rPr>
              <a:t>•  Two-layer authorization: role policy on the route, project scope in the service (404 out of scope, 403 not allowed)</a:t>
            </a:r>
          </a:p>
          <a:p>
            <a:pPr>
              <a:spcAft>
                <a:spcPts val="600"/>
              </a:spcAft>
            </a:pPr>
            <a:r>
              <a:rPr sz="1500" b="0">
                <a:solidFill>
                  <a:srgbClr val="1F242B"/>
                </a:solidFill>
                <a:latin typeface="Calibri"/>
              </a:rPr>
              <a:t>•  Business actions are atomic: entity + history + audit + outbox in one transaction</a:t>
            </a:r>
          </a:p>
          <a:p>
            <a:pPr>
              <a:spcAft>
                <a:spcPts val="600"/>
              </a:spcAft>
            </a:pPr>
            <a:r>
              <a:rPr sz="1500" b="0">
                <a:solidFill>
                  <a:srgbClr val="1F242B"/>
                </a:solidFill>
                <a:latin typeface="Calibri"/>
              </a:rPr>
              <a:t>•  Database is a second line of defence: CHECKs, immutable posted costs, append-only audit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nchor="t" lIns="45720" rIns="45720">
            <a:spAutoFit/>
          </a:bodyPr>
          <a:lstStyle/>
          <a:p>
            <a:pPr>
              <a:spcAft>
                <a:spcPts val="600"/>
              </a:spcAft>
            </a:pPr>
            <a:r>
              <a:rPr sz="3000" b="1">
                <a:solidFill>
                  <a:srgbClr val="1F242B"/>
                </a:solidFill>
                <a:latin typeface="Calibri"/>
              </a:rPr>
              <a:t>Financial management: defensible numbers, controlled changes</a:t>
            </a:r>
          </a:p>
        </p:txBody>
      </p:sp>
      <p:sp>
        <p:nvSpPr>
          <p:cNvPr id="4" name="TextBox 3"/>
          <p:cNvSpPr txBox="1"/>
          <p:nvPr/>
        </p:nvSpPr>
        <p:spPr>
          <a:xfrm>
            <a:off x="548640" y="6419088"/>
            <a:ext cx="8229600" cy="274320"/>
          </a:xfrm>
          <a:prstGeom prst="rect">
            <a:avLst/>
          </a:prstGeom>
          <a:noFill/>
        </p:spPr>
        <p:txBody>
          <a:bodyPr wrap="square" anchor="t" lIns="45720" rIns="45720">
            <a:spAutoFit/>
          </a:bodyPr>
          <a:lstStyle/>
          <a:p>
            <a:pPr>
              <a:spcAft>
                <a:spcPts val="600"/>
              </a:spcAft>
            </a:pPr>
            <a:r>
              <a:rPr sz="1000" b="0">
                <a:solidFill>
                  <a:srgbClr val="5B6470"/>
                </a:solidFill>
                <a:latin typeface="Calibri"/>
              </a:rPr>
              <a:t>PMO Portfolio &amp; Financial Control Portal  |  baseline 30 September 2026, all data fictional</a:t>
            </a:r>
          </a:p>
        </p:txBody>
      </p:sp>
      <p:sp>
        <p:nvSpPr>
          <p:cNvPr id="5" name="TextBox 4"/>
          <p:cNvSpPr txBox="1"/>
          <p:nvPr/>
        </p:nvSpPr>
        <p:spPr>
          <a:xfrm>
            <a:off x="10972800" y="6419088"/>
            <a:ext cx="731520" cy="274320"/>
          </a:xfrm>
          <a:prstGeom prst="rect">
            <a:avLst/>
          </a:prstGeom>
          <a:noFill/>
        </p:spPr>
        <p:txBody>
          <a:bodyPr wrap="square" anchor="t" lIns="45720" rIns="45720">
            <a:spAutoFit/>
          </a:bodyPr>
          <a:lstStyle/>
          <a:p>
            <a:pPr>
              <a:spcAft>
                <a:spcPts val="600"/>
              </a:spcAft>
            </a:pPr>
            <a:r>
              <a:rPr sz="1000" b="0">
                <a:solidFill>
                  <a:srgbClr val="5B6470"/>
                </a:solidFill>
                <a:latin typeface="Calibri"/>
              </a:rPr>
              <a:t>4</a:t>
            </a:r>
          </a:p>
        </p:txBody>
      </p:sp>
      <p:graphicFrame>
        <p:nvGraphicFramePr>
          <p:cNvPr id="6" name="Chart 5"/>
          <p:cNvGraphicFramePr>
            <a:graphicFrameLocks noGrp="1"/>
          </p:cNvGraphicFramePr>
          <p:nvPr/>
        </p:nvGraphicFramePr>
        <p:xfrm>
          <a:off x="457200" y="1280160"/>
          <a:ext cx="6949440" cy="4206240"/>
        </p:xfrm>
        <a:graphic>
          <a:graphicData uri="http://schemas.openxmlformats.org/drawingml/2006/chart">
            <c:chart xmlns:c="http://schemas.openxmlformats.org/drawingml/2006/chart" r:id="rId3"/>
          </a:graphicData>
        </a:graphic>
      </p:graphicFrame>
      <p:sp>
        <p:nvSpPr>
          <p:cNvPr id="7" name="Rounded Rectangle 6"/>
          <p:cNvSpPr/>
          <p:nvPr/>
        </p:nvSpPr>
        <p:spPr>
          <a:xfrm>
            <a:off x="7680960" y="1280160"/>
            <a:ext cx="4023360" cy="2103120"/>
          </a:xfrm>
          <a:prstGeom prst="roundRect">
            <a:avLst>
              <a:gd name="adj" fmla="val 6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90688" y="1353312"/>
            <a:ext cx="3803904" cy="365760"/>
          </a:xfrm>
          <a:prstGeom prst="rect">
            <a:avLst/>
          </a:prstGeom>
          <a:noFill/>
        </p:spPr>
        <p:txBody>
          <a:bodyPr wrap="square" anchor="t" lIns="45720" rIns="45720">
            <a:spAutoFit/>
          </a:bodyPr>
          <a:lstStyle/>
          <a:p>
            <a:pPr>
              <a:spcAft>
                <a:spcPts val="600"/>
              </a:spcAft>
            </a:pPr>
            <a:r>
              <a:rPr sz="1500" b="1">
                <a:solidFill>
                  <a:srgbClr val="C8102E"/>
                </a:solidFill>
                <a:latin typeface="Calibri"/>
              </a:rPr>
              <a:t>Definitions (applied everywhere)</a:t>
            </a:r>
          </a:p>
        </p:txBody>
      </p:sp>
      <p:sp>
        <p:nvSpPr>
          <p:cNvPr id="9" name="TextBox 8"/>
          <p:cNvSpPr txBox="1"/>
          <p:nvPr/>
        </p:nvSpPr>
        <p:spPr>
          <a:xfrm>
            <a:off x="7790688" y="1737360"/>
            <a:ext cx="3803904" cy="1600199"/>
          </a:xfrm>
          <a:prstGeom prst="rect">
            <a:avLst/>
          </a:prstGeom>
          <a:noFill/>
        </p:spPr>
        <p:txBody>
          <a:bodyPr wrap="square" anchor="t" lIns="45720" rIns="45720">
            <a:spAutoFit/>
          </a:bodyPr>
          <a:lstStyle/>
          <a:p>
            <a:pPr>
              <a:spcAft>
                <a:spcPts val="600"/>
              </a:spcAft>
            </a:pPr>
            <a:r>
              <a:rPr sz="1500" b="0">
                <a:solidFill>
                  <a:srgbClr val="1F242B"/>
                </a:solidFill>
                <a:latin typeface="Calibri"/>
              </a:rPr>
              <a:t>Budget = initial + approved revisions</a:t>
            </a:r>
          </a:p>
          <a:p>
            <a:pPr>
              <a:spcAft>
                <a:spcPts val="600"/>
              </a:spcAft>
            </a:pPr>
            <a:r>
              <a:rPr sz="1500" b="0">
                <a:solidFill>
                  <a:srgbClr val="1F242B"/>
                </a:solidFill>
                <a:latin typeface="Calibri"/>
              </a:rPr>
              <a:t>Actual = posted costs up to the reporting date</a:t>
            </a:r>
          </a:p>
          <a:p>
            <a:pPr>
              <a:spcAft>
                <a:spcPts val="600"/>
              </a:spcAft>
            </a:pPr>
            <a:r>
              <a:rPr sz="1500" b="0">
                <a:solidFill>
                  <a:srgbClr val="1F242B"/>
                </a:solidFill>
                <a:latin typeface="Calibri"/>
              </a:rPr>
              <a:t>EAC = actual + forecast to complete</a:t>
            </a:r>
          </a:p>
          <a:p>
            <a:pPr>
              <a:spcAft>
                <a:spcPts val="600"/>
              </a:spcAft>
            </a:pPr>
            <a:r>
              <a:rPr sz="1500" b="0">
                <a:solidFill>
                  <a:srgbClr val="1F242B"/>
                </a:solidFill>
                <a:latin typeface="Calibri"/>
              </a:rPr>
              <a:t>Variance = budget - EAC</a:t>
            </a:r>
          </a:p>
        </p:txBody>
      </p:sp>
      <p:sp>
        <p:nvSpPr>
          <p:cNvPr id="10" name="Rounded Rectangle 9"/>
          <p:cNvSpPr/>
          <p:nvPr/>
        </p:nvSpPr>
        <p:spPr>
          <a:xfrm>
            <a:off x="7680960" y="3520440"/>
            <a:ext cx="4023360" cy="1965960"/>
          </a:xfrm>
          <a:prstGeom prst="roundRect">
            <a:avLst>
              <a:gd name="adj" fmla="val 6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90688" y="3593592"/>
            <a:ext cx="3803904" cy="365760"/>
          </a:xfrm>
          <a:prstGeom prst="rect">
            <a:avLst/>
          </a:prstGeom>
          <a:noFill/>
        </p:spPr>
        <p:txBody>
          <a:bodyPr wrap="square" anchor="t" lIns="45720" rIns="45720">
            <a:spAutoFit/>
          </a:bodyPr>
          <a:lstStyle/>
          <a:p>
            <a:pPr>
              <a:spcAft>
                <a:spcPts val="600"/>
              </a:spcAft>
            </a:pPr>
            <a:r>
              <a:rPr sz="1500" b="1">
                <a:solidFill>
                  <a:srgbClr val="C8102E"/>
                </a:solidFill>
                <a:latin typeface="Calibri"/>
              </a:rPr>
              <a:t>Controls and alerts</a:t>
            </a:r>
          </a:p>
        </p:txBody>
      </p:sp>
      <p:sp>
        <p:nvSpPr>
          <p:cNvPr id="12" name="TextBox 11"/>
          <p:cNvSpPr txBox="1"/>
          <p:nvPr/>
        </p:nvSpPr>
        <p:spPr>
          <a:xfrm>
            <a:off x="7790688" y="3977639"/>
            <a:ext cx="3803904" cy="1463039"/>
          </a:xfrm>
          <a:prstGeom prst="rect">
            <a:avLst/>
          </a:prstGeom>
          <a:noFill/>
        </p:spPr>
        <p:txBody>
          <a:bodyPr wrap="square" anchor="t" lIns="45720" rIns="45720">
            <a:spAutoFit/>
          </a:bodyPr>
          <a:lstStyle/>
          <a:p>
            <a:pPr>
              <a:spcAft>
                <a:spcPts val="600"/>
              </a:spcAft>
            </a:pPr>
            <a:r>
              <a:rPr sz="1500" b="0">
                <a:solidFill>
                  <a:srgbClr val="1F242B"/>
                </a:solidFill>
                <a:latin typeface="Calibri"/>
              </a:rPr>
              <a:t>Draft vs posted; posted is immutable, reversal only</a:t>
            </a:r>
          </a:p>
          <a:p>
            <a:pPr>
              <a:spcAft>
                <a:spcPts val="600"/>
              </a:spcAft>
            </a:pPr>
            <a:r>
              <a:rPr sz="1500" b="0">
                <a:solidFill>
                  <a:srgbClr val="1F242B"/>
                </a:solidFill>
                <a:latin typeface="Calibri"/>
              </a:rPr>
              <a:t>Actor and time on every mutation</a:t>
            </a:r>
          </a:p>
          <a:p>
            <a:pPr>
              <a:spcAft>
                <a:spcPts val="600"/>
              </a:spcAft>
            </a:pPr>
            <a:r>
              <a:rPr sz="1500" b="0">
                <a:solidFill>
                  <a:srgbClr val="1F242B"/>
                </a:solidFill>
                <a:latin typeface="Calibri"/>
              </a:rPr>
              <a:t>90% and 100% budget alerts via outbox</a:t>
            </a:r>
          </a:p>
        </p:txBody>
      </p:sp>
      <p:sp>
        <p:nvSpPr>
          <p:cNvPr id="13" name="TextBox 12"/>
          <p:cNvSpPr txBox="1"/>
          <p:nvPr/>
        </p:nvSpPr>
        <p:spPr>
          <a:xfrm>
            <a:off x="548640" y="5669280"/>
            <a:ext cx="11155680" cy="640080"/>
          </a:xfrm>
          <a:prstGeom prst="rect">
            <a:avLst/>
          </a:prstGeom>
          <a:noFill/>
        </p:spPr>
        <p:txBody>
          <a:bodyPr wrap="square" anchor="t" lIns="45720" rIns="45720">
            <a:spAutoFit/>
          </a:bodyPr>
          <a:lstStyle/>
          <a:p>
            <a:pPr>
              <a:spcAft>
                <a:spcPts val="600"/>
              </a:spcAft>
            </a:pPr>
            <a:r>
              <a:rPr sz="1400" b="1">
                <a:solidFill>
                  <a:srgbClr val="1F242B"/>
                </a:solidFill>
                <a:latin typeface="Calibri"/>
              </a:rPr>
              <a:t>Portfolio at 30 Sep 2026: budget AED 12.02M, spend 6.56M (54.5%), EAC 10.71M. PRJ-009 overspent, PRJ-001 at 92%, PRJ-002 projected to overrun.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nchor="t" lIns="45720" rIns="45720">
            <a:spAutoFit/>
          </a:bodyPr>
          <a:lstStyle/>
          <a:p>
            <a:pPr>
              <a:spcAft>
                <a:spcPts val="600"/>
              </a:spcAft>
            </a:pPr>
            <a:r>
              <a:rPr sz="3000" b="1">
                <a:solidFill>
                  <a:srgbClr val="1F242B"/>
                </a:solidFill>
                <a:latin typeface="Calibri"/>
              </a:rPr>
              <a:t>Web intelligence: every KPI recomputed from SQL, never patched</a:t>
            </a:r>
          </a:p>
        </p:txBody>
      </p:sp>
      <p:sp>
        <p:nvSpPr>
          <p:cNvPr id="4" name="TextBox 3"/>
          <p:cNvSpPr txBox="1"/>
          <p:nvPr/>
        </p:nvSpPr>
        <p:spPr>
          <a:xfrm>
            <a:off x="548640" y="6419088"/>
            <a:ext cx="8229600" cy="274320"/>
          </a:xfrm>
          <a:prstGeom prst="rect">
            <a:avLst/>
          </a:prstGeom>
          <a:noFill/>
        </p:spPr>
        <p:txBody>
          <a:bodyPr wrap="square" anchor="t" lIns="45720" rIns="45720">
            <a:spAutoFit/>
          </a:bodyPr>
          <a:lstStyle/>
          <a:p>
            <a:pPr>
              <a:spcAft>
                <a:spcPts val="600"/>
              </a:spcAft>
            </a:pPr>
            <a:r>
              <a:rPr sz="1000" b="0">
                <a:solidFill>
                  <a:srgbClr val="5B6470"/>
                </a:solidFill>
                <a:latin typeface="Calibri"/>
              </a:rPr>
              <a:t>PMO Portfolio &amp; Financial Control Portal  |  baseline 30 September 2026, all data fictional</a:t>
            </a:r>
          </a:p>
        </p:txBody>
      </p:sp>
      <p:sp>
        <p:nvSpPr>
          <p:cNvPr id="5" name="TextBox 4"/>
          <p:cNvSpPr txBox="1"/>
          <p:nvPr/>
        </p:nvSpPr>
        <p:spPr>
          <a:xfrm>
            <a:off x="10972800" y="6419088"/>
            <a:ext cx="731520" cy="274320"/>
          </a:xfrm>
          <a:prstGeom prst="rect">
            <a:avLst/>
          </a:prstGeom>
          <a:noFill/>
        </p:spPr>
        <p:txBody>
          <a:bodyPr wrap="square" anchor="t" lIns="45720" rIns="45720">
            <a:spAutoFit/>
          </a:bodyPr>
          <a:lstStyle/>
          <a:p>
            <a:pPr>
              <a:spcAft>
                <a:spcPts val="600"/>
              </a:spcAft>
            </a:pPr>
            <a:r>
              <a:rPr sz="1000" b="0">
                <a:solidFill>
                  <a:srgbClr val="5B6470"/>
                </a:solidFill>
                <a:latin typeface="Calibri"/>
              </a:rPr>
              <a:t>5</a:t>
            </a:r>
          </a:p>
        </p:txBody>
      </p:sp>
      <p:sp>
        <p:nvSpPr>
          <p:cNvPr id="6" name="Rounded Rectangle 5"/>
          <p:cNvSpPr/>
          <p:nvPr/>
        </p:nvSpPr>
        <p:spPr>
          <a:xfrm>
            <a:off x="548640" y="1371600"/>
            <a:ext cx="2011680" cy="1143000"/>
          </a:xfrm>
          <a:prstGeom prst="roundRect">
            <a:avLst>
              <a:gd name="adj" fmla="val 12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200" b="1">
                <a:solidFill>
                  <a:srgbClr val="1F242B"/>
                </a:solidFill>
                <a:latin typeface="Calibri"/>
              </a:rPr>
              <a:t>AED 12.02M</a:t>
            </a:r>
          </a:p>
          <a:p>
            <a:pPr algn="ctr"/>
            <a:r>
              <a:rPr sz="1400" b="0">
                <a:solidFill>
                  <a:srgbClr val="1F242B"/>
                </a:solidFill>
                <a:latin typeface="Calibri"/>
              </a:rPr>
              <a:t>approved budget</a:t>
            </a:r>
          </a:p>
        </p:txBody>
      </p:sp>
      <p:sp>
        <p:nvSpPr>
          <p:cNvPr id="7" name="Rounded Rectangle 6"/>
          <p:cNvSpPr/>
          <p:nvPr/>
        </p:nvSpPr>
        <p:spPr>
          <a:xfrm>
            <a:off x="2697480" y="1371600"/>
            <a:ext cx="2011680" cy="1143000"/>
          </a:xfrm>
          <a:prstGeom prst="roundRect">
            <a:avLst>
              <a:gd name="adj" fmla="val 12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200" b="1">
                <a:solidFill>
                  <a:srgbClr val="1F242B"/>
                </a:solidFill>
                <a:latin typeface="Calibri"/>
              </a:rPr>
              <a:t>AED 6.56M</a:t>
            </a:r>
          </a:p>
          <a:p>
            <a:pPr algn="ctr"/>
            <a:r>
              <a:rPr sz="1400" b="0">
                <a:solidFill>
                  <a:srgbClr val="1F242B"/>
                </a:solidFill>
                <a:latin typeface="Calibri"/>
              </a:rPr>
              <a:t>actual spend</a:t>
            </a:r>
          </a:p>
        </p:txBody>
      </p:sp>
      <p:sp>
        <p:nvSpPr>
          <p:cNvPr id="8" name="Rounded Rectangle 7"/>
          <p:cNvSpPr/>
          <p:nvPr/>
        </p:nvSpPr>
        <p:spPr>
          <a:xfrm>
            <a:off x="4846320" y="1371600"/>
            <a:ext cx="2011680" cy="1143000"/>
          </a:xfrm>
          <a:prstGeom prst="roundRect">
            <a:avLst>
              <a:gd name="adj" fmla="val 12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200" b="1">
                <a:solidFill>
                  <a:srgbClr val="1F242B"/>
                </a:solidFill>
                <a:latin typeface="Calibri"/>
              </a:rPr>
              <a:t>54.5%</a:t>
            </a:r>
          </a:p>
          <a:p>
            <a:pPr algn="ctr"/>
            <a:r>
              <a:rPr sz="1400" b="0">
                <a:solidFill>
                  <a:srgbClr val="1F242B"/>
                </a:solidFill>
                <a:latin typeface="Calibri"/>
              </a:rPr>
              <a:t>utilisation</a:t>
            </a:r>
          </a:p>
        </p:txBody>
      </p:sp>
      <p:sp>
        <p:nvSpPr>
          <p:cNvPr id="9" name="Rounded Rectangle 8"/>
          <p:cNvSpPr/>
          <p:nvPr/>
        </p:nvSpPr>
        <p:spPr>
          <a:xfrm>
            <a:off x="548640" y="2697480"/>
            <a:ext cx="2011680" cy="1143000"/>
          </a:xfrm>
          <a:prstGeom prst="roundRect">
            <a:avLst>
              <a:gd name="adj" fmla="val 12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200" b="1">
                <a:solidFill>
                  <a:srgbClr val="1F242B"/>
                </a:solidFill>
                <a:latin typeface="Calibri"/>
              </a:rPr>
              <a:t>AED 10.71M</a:t>
            </a:r>
          </a:p>
          <a:p>
            <a:pPr algn="ctr"/>
            <a:r>
              <a:rPr sz="1400" b="0">
                <a:solidFill>
                  <a:srgbClr val="1F242B"/>
                </a:solidFill>
                <a:latin typeface="Calibri"/>
              </a:rPr>
              <a:t>forecast EAC</a:t>
            </a:r>
          </a:p>
        </p:txBody>
      </p:sp>
      <p:sp>
        <p:nvSpPr>
          <p:cNvPr id="10" name="Rounded Rectangle 9"/>
          <p:cNvSpPr/>
          <p:nvPr/>
        </p:nvSpPr>
        <p:spPr>
          <a:xfrm>
            <a:off x="2697480" y="2697480"/>
            <a:ext cx="2011680" cy="1143000"/>
          </a:xfrm>
          <a:prstGeom prst="roundRect">
            <a:avLst>
              <a:gd name="adj" fmla="val 12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200" b="1">
                <a:solidFill>
                  <a:srgbClr val="1F242B"/>
                </a:solidFill>
                <a:latin typeface="Calibri"/>
              </a:rPr>
              <a:t>8</a:t>
            </a:r>
          </a:p>
          <a:p>
            <a:pPr algn="ctr"/>
            <a:r>
              <a:rPr sz="1400" b="0">
                <a:solidFill>
                  <a:srgbClr val="1F242B"/>
                </a:solidFill>
                <a:latin typeface="Calibri"/>
              </a:rPr>
              <a:t>overdue tasks</a:t>
            </a:r>
          </a:p>
        </p:txBody>
      </p:sp>
      <p:sp>
        <p:nvSpPr>
          <p:cNvPr id="11" name="Rounded Rectangle 10"/>
          <p:cNvSpPr/>
          <p:nvPr/>
        </p:nvSpPr>
        <p:spPr>
          <a:xfrm>
            <a:off x="4846320" y="2697480"/>
            <a:ext cx="2011680" cy="1143000"/>
          </a:xfrm>
          <a:prstGeom prst="roundRect">
            <a:avLst>
              <a:gd name="adj" fmla="val 12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200" b="1">
                <a:solidFill>
                  <a:srgbClr val="1F242B"/>
                </a:solidFill>
                <a:latin typeface="Calibri"/>
              </a:rPr>
              <a:t>4</a:t>
            </a:r>
          </a:p>
          <a:p>
            <a:pPr algn="ctr"/>
            <a:r>
              <a:rPr sz="1400" b="0">
                <a:solidFill>
                  <a:srgbClr val="1F242B"/>
                </a:solidFill>
                <a:latin typeface="Calibri"/>
              </a:rPr>
              <a:t>open high-exposure risks</a:t>
            </a:r>
          </a:p>
        </p:txBody>
      </p:sp>
      <p:sp>
        <p:nvSpPr>
          <p:cNvPr id="12" name="TextBox 11"/>
          <p:cNvSpPr txBox="1"/>
          <p:nvPr/>
        </p:nvSpPr>
        <p:spPr>
          <a:xfrm>
            <a:off x="548640" y="4114800"/>
            <a:ext cx="6400800" cy="365760"/>
          </a:xfrm>
          <a:prstGeom prst="rect">
            <a:avLst/>
          </a:prstGeom>
          <a:noFill/>
        </p:spPr>
        <p:txBody>
          <a:bodyPr wrap="square" anchor="t" lIns="45720" rIns="45720">
            <a:spAutoFit/>
          </a:bodyPr>
          <a:lstStyle/>
          <a:p>
            <a:pPr>
              <a:spcAft>
                <a:spcPts val="600"/>
              </a:spcAft>
            </a:pPr>
            <a:r>
              <a:rPr sz="1100" b="0">
                <a:solidFill>
                  <a:srgbClr val="5B6470"/>
                </a:solidFill>
                <a:latin typeface="Calibri"/>
              </a:rPr>
              <a:t>Baseline values, administrator scope, unfiltered</a:t>
            </a:r>
          </a:p>
        </p:txBody>
      </p:sp>
      <p:sp>
        <p:nvSpPr>
          <p:cNvPr id="13" name="TextBox 12"/>
          <p:cNvSpPr txBox="1"/>
          <p:nvPr/>
        </p:nvSpPr>
        <p:spPr>
          <a:xfrm>
            <a:off x="548640" y="4526280"/>
            <a:ext cx="6400800" cy="1828800"/>
          </a:xfrm>
          <a:prstGeom prst="rect">
            <a:avLst/>
          </a:prstGeom>
          <a:noFill/>
        </p:spPr>
        <p:txBody>
          <a:bodyPr wrap="square" anchor="t" lIns="45720" rIns="45720">
            <a:spAutoFit/>
          </a:bodyPr>
          <a:lstStyle/>
          <a:p>
            <a:pPr>
              <a:spcAft>
                <a:spcPts val="600"/>
              </a:spcAft>
            </a:pPr>
            <a:r>
              <a:rPr sz="1500" b="0">
                <a:solidFill>
                  <a:srgbClr val="1F242B"/>
                </a:solidFill>
                <a:latin typeface="Calibri"/>
              </a:rPr>
              <a:t>•  Six filters, kept in the URL (shareable, survives reload)</a:t>
            </a:r>
          </a:p>
          <a:p>
            <a:pPr>
              <a:spcAft>
                <a:spcPts val="600"/>
              </a:spcAft>
            </a:pPr>
            <a:r>
              <a:rPr sz="1500" b="0">
                <a:solidFill>
                  <a:srgbClr val="1F242B"/>
                </a:solidFill>
                <a:latin typeface="Calibri"/>
              </a:rPr>
              <a:t>•  Visuals: project health, budget vs actual vs EAC, monthly trend, spend by category, overdue by owner, risk matrix</a:t>
            </a:r>
          </a:p>
          <a:p>
            <a:pPr>
              <a:spcAft>
                <a:spcPts val="600"/>
              </a:spcAft>
            </a:pPr>
            <a:r>
              <a:rPr sz="1500" b="0">
                <a:solidFill>
                  <a:srgbClr val="1F242B"/>
                </a:solidFill>
                <a:latin typeface="Calibri"/>
              </a:rPr>
              <a:t>•  Drill-down: KPI to posted transactions, tasks or risks</a:t>
            </a:r>
          </a:p>
        </p:txBody>
      </p:sp>
      <p:sp>
        <p:nvSpPr>
          <p:cNvPr id="14" name="Rounded Rectangle 13"/>
          <p:cNvSpPr/>
          <p:nvPr/>
        </p:nvSpPr>
        <p:spPr>
          <a:xfrm>
            <a:off x="7315200" y="1371600"/>
            <a:ext cx="4389120" cy="2286000"/>
          </a:xfrm>
          <a:prstGeom prst="roundRect">
            <a:avLst>
              <a:gd name="adj" fmla="val 6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24927" y="1444752"/>
            <a:ext cx="4169663" cy="365760"/>
          </a:xfrm>
          <a:prstGeom prst="rect">
            <a:avLst/>
          </a:prstGeom>
          <a:noFill/>
        </p:spPr>
        <p:txBody>
          <a:bodyPr wrap="square" anchor="t" lIns="45720" rIns="45720">
            <a:spAutoFit/>
          </a:bodyPr>
          <a:lstStyle/>
          <a:p>
            <a:pPr>
              <a:spcAft>
                <a:spcPts val="600"/>
              </a:spcAft>
            </a:pPr>
            <a:r>
              <a:rPr sz="1500" b="1">
                <a:solidFill>
                  <a:srgbClr val="C8102E"/>
                </a:solidFill>
                <a:latin typeface="Calibri"/>
              </a:rPr>
              <a:t>Source of every number</a:t>
            </a:r>
          </a:p>
        </p:txBody>
      </p:sp>
      <p:sp>
        <p:nvSpPr>
          <p:cNvPr id="16" name="TextBox 15"/>
          <p:cNvSpPr txBox="1"/>
          <p:nvPr/>
        </p:nvSpPr>
        <p:spPr>
          <a:xfrm>
            <a:off x="7424927" y="1828800"/>
            <a:ext cx="4169663" cy="1783080"/>
          </a:xfrm>
          <a:prstGeom prst="rect">
            <a:avLst/>
          </a:prstGeom>
          <a:noFill/>
        </p:spPr>
        <p:txBody>
          <a:bodyPr wrap="square" anchor="t" lIns="45720" rIns="45720">
            <a:spAutoFit/>
          </a:bodyPr>
          <a:lstStyle/>
          <a:p>
            <a:pPr>
              <a:spcAft>
                <a:spcPts val="600"/>
              </a:spcAft>
            </a:pPr>
            <a:r>
              <a:rPr sz="1500" b="0">
                <a:solidFill>
                  <a:srgbClr val="1F242B"/>
                </a:solidFill>
                <a:latin typeface="Calibri"/>
              </a:rPr>
              <a:t>Actual spend: posted cost_transactions up to the reporting date</a:t>
            </a:r>
          </a:p>
          <a:p>
            <a:pPr>
              <a:spcAft>
                <a:spcPts val="600"/>
              </a:spcAft>
            </a:pPr>
            <a:r>
              <a:rPr sz="1500" b="0">
                <a:solidFill>
                  <a:srgbClr val="1F242B"/>
                </a:solidFill>
                <a:latin typeface="Calibri"/>
              </a:rPr>
              <a:t>Progress: task weight x progress, cancelled excluded</a:t>
            </a:r>
          </a:p>
          <a:p>
            <a:pPr>
              <a:spcAft>
                <a:spcPts val="600"/>
              </a:spcAft>
            </a:pPr>
            <a:r>
              <a:rPr sz="1500" b="0">
                <a:solidFill>
                  <a:srgbClr val="1F242B"/>
                </a:solidFill>
                <a:latin typeface="Calibri"/>
              </a:rPr>
              <a:t>One CTE per one-to-many table, so no join inflates spend</a:t>
            </a:r>
          </a:p>
        </p:txBody>
      </p:sp>
      <p:sp>
        <p:nvSpPr>
          <p:cNvPr id="17" name="Rounded Rectangle 16"/>
          <p:cNvSpPr/>
          <p:nvPr/>
        </p:nvSpPr>
        <p:spPr>
          <a:xfrm>
            <a:off x="7315200" y="3840480"/>
            <a:ext cx="4389120" cy="2286000"/>
          </a:xfrm>
          <a:prstGeom prst="roundRect">
            <a:avLst>
              <a:gd name="adj" fmla="val 6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4927" y="3913632"/>
            <a:ext cx="4169663" cy="365760"/>
          </a:xfrm>
          <a:prstGeom prst="rect">
            <a:avLst/>
          </a:prstGeom>
          <a:noFill/>
        </p:spPr>
        <p:txBody>
          <a:bodyPr wrap="square" anchor="t" lIns="45720" rIns="45720">
            <a:spAutoFit/>
          </a:bodyPr>
          <a:lstStyle/>
          <a:p>
            <a:pPr>
              <a:spcAft>
                <a:spcPts val="600"/>
              </a:spcAft>
            </a:pPr>
            <a:r>
              <a:rPr sz="1500" b="1">
                <a:solidFill>
                  <a:srgbClr val="C8102E"/>
                </a:solidFill>
                <a:latin typeface="Calibri"/>
              </a:rPr>
              <a:t>Integrity check</a:t>
            </a:r>
          </a:p>
        </p:txBody>
      </p:sp>
      <p:sp>
        <p:nvSpPr>
          <p:cNvPr id="19" name="TextBox 18"/>
          <p:cNvSpPr txBox="1"/>
          <p:nvPr/>
        </p:nvSpPr>
        <p:spPr>
          <a:xfrm>
            <a:off x="7424927" y="4297680"/>
            <a:ext cx="4169663" cy="1783080"/>
          </a:xfrm>
          <a:prstGeom prst="rect">
            <a:avLst/>
          </a:prstGeom>
          <a:noFill/>
        </p:spPr>
        <p:txBody>
          <a:bodyPr wrap="square" anchor="t" lIns="45720" rIns="45720">
            <a:spAutoFit/>
          </a:bodyPr>
          <a:lstStyle/>
          <a:p>
            <a:pPr>
              <a:spcAft>
                <a:spcPts val="600"/>
              </a:spcAft>
            </a:pPr>
            <a:r>
              <a:rPr sz="1500" b="0">
                <a:solidFill>
                  <a:srgbClr val="1F242B"/>
                </a:solidFill>
                <a:latin typeface="Calibri"/>
              </a:rPr>
              <a:t>Update task progress or post a cost, then reload: KPIs change</a:t>
            </a:r>
          </a:p>
          <a:p>
            <a:pPr>
              <a:spcAft>
                <a:spcPts val="600"/>
              </a:spcAft>
            </a:pPr>
            <a:r>
              <a:rPr sz="1500" b="0">
                <a:solidFill>
                  <a:srgbClr val="1F242B"/>
                </a:solidFill>
                <a:latin typeface="Calibri"/>
              </a:rPr>
              <a:t>No client-side KPI maths</a:t>
            </a:r>
          </a:p>
          <a:p>
            <a:pPr>
              <a:spcAft>
                <a:spcPts val="600"/>
              </a:spcAft>
            </a:pPr>
            <a:r>
              <a:rPr sz="1500" b="0">
                <a:solidFill>
                  <a:srgbClr val="1F242B"/>
                </a:solidFill>
                <a:latin typeface="Calibri"/>
              </a:rPr>
              <a:t>Test: drill-down rows sum to the KPI, for every filter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nchor="t" lIns="45720" rIns="45720">
            <a:spAutoFit/>
          </a:bodyPr>
          <a:lstStyle/>
          <a:p>
            <a:pPr>
              <a:spcAft>
                <a:spcPts val="600"/>
              </a:spcAft>
            </a:pPr>
            <a:r>
              <a:rPr sz="3000" b="1">
                <a:solidFill>
                  <a:srgbClr val="1F242B"/>
                </a:solidFill>
                <a:latin typeface="Calibri"/>
              </a:rPr>
              <a:t>Automation: reliable notifications through a transactional outbox</a:t>
            </a:r>
          </a:p>
        </p:txBody>
      </p:sp>
      <p:sp>
        <p:nvSpPr>
          <p:cNvPr id="4" name="TextBox 3"/>
          <p:cNvSpPr txBox="1"/>
          <p:nvPr/>
        </p:nvSpPr>
        <p:spPr>
          <a:xfrm>
            <a:off x="548640" y="6419088"/>
            <a:ext cx="8229600" cy="274320"/>
          </a:xfrm>
          <a:prstGeom prst="rect">
            <a:avLst/>
          </a:prstGeom>
          <a:noFill/>
        </p:spPr>
        <p:txBody>
          <a:bodyPr wrap="square" anchor="t" lIns="45720" rIns="45720">
            <a:spAutoFit/>
          </a:bodyPr>
          <a:lstStyle/>
          <a:p>
            <a:pPr>
              <a:spcAft>
                <a:spcPts val="600"/>
              </a:spcAft>
            </a:pPr>
            <a:r>
              <a:rPr sz="1000" b="0">
                <a:solidFill>
                  <a:srgbClr val="5B6470"/>
                </a:solidFill>
                <a:latin typeface="Calibri"/>
              </a:rPr>
              <a:t>PMO Portfolio &amp; Financial Control Portal  |  baseline 30 September 2026, all data fictional</a:t>
            </a:r>
          </a:p>
        </p:txBody>
      </p:sp>
      <p:sp>
        <p:nvSpPr>
          <p:cNvPr id="5" name="TextBox 4"/>
          <p:cNvSpPr txBox="1"/>
          <p:nvPr/>
        </p:nvSpPr>
        <p:spPr>
          <a:xfrm>
            <a:off x="10972800" y="6419088"/>
            <a:ext cx="731520" cy="274320"/>
          </a:xfrm>
          <a:prstGeom prst="rect">
            <a:avLst/>
          </a:prstGeom>
          <a:noFill/>
        </p:spPr>
        <p:txBody>
          <a:bodyPr wrap="square" anchor="t" lIns="45720" rIns="45720">
            <a:spAutoFit/>
          </a:bodyPr>
          <a:lstStyle/>
          <a:p>
            <a:pPr>
              <a:spcAft>
                <a:spcPts val="600"/>
              </a:spcAft>
            </a:pPr>
            <a:r>
              <a:rPr sz="1000" b="0">
                <a:solidFill>
                  <a:srgbClr val="5B6470"/>
                </a:solidFill>
                <a:latin typeface="Calibri"/>
              </a:rPr>
              <a:t>6</a:t>
            </a:r>
          </a:p>
        </p:txBody>
      </p:sp>
      <p:sp>
        <p:nvSpPr>
          <p:cNvPr id="6" name="Rounded Rectangle 5"/>
          <p:cNvSpPr/>
          <p:nvPr/>
        </p:nvSpPr>
        <p:spPr>
          <a:xfrm>
            <a:off x="548640" y="1554480"/>
            <a:ext cx="1920240" cy="1188720"/>
          </a:xfrm>
          <a:prstGeom prst="roundRect">
            <a:avLst>
              <a:gd name="adj" fmla="val 12000"/>
            </a:avLst>
          </a:prstGeom>
          <a:solidFill>
            <a:srgbClr val="1F242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Event</a:t>
            </a:r>
          </a:p>
          <a:p>
            <a:pPr algn="ctr"/>
            <a:r>
              <a:rPr sz="1300" b="0">
                <a:solidFill>
                  <a:srgbClr val="FFFFFF"/>
                </a:solidFill>
                <a:latin typeface="Calibri"/>
              </a:rPr>
              <a:t>CR approved or</a:t>
            </a:r>
          </a:p>
          <a:p>
            <a:pPr algn="ctr"/>
            <a:r>
              <a:rPr sz="1300" b="0">
                <a:solidFill>
                  <a:srgbClr val="FFFFFF"/>
                </a:solidFill>
                <a:latin typeface="Calibri"/>
              </a:rPr>
              <a:t>budget 90% / 100%</a:t>
            </a:r>
          </a:p>
        </p:txBody>
      </p:sp>
      <p:sp>
        <p:nvSpPr>
          <p:cNvPr id="7" name="Right Arrow 6"/>
          <p:cNvSpPr/>
          <p:nvPr/>
        </p:nvSpPr>
        <p:spPr>
          <a:xfrm>
            <a:off x="2487168" y="2011680"/>
            <a:ext cx="320040" cy="274320"/>
          </a:xfrm>
          <a:prstGeom prst="rightArrow">
            <a:avLst/>
          </a:prstGeom>
          <a:solidFill>
            <a:srgbClr val="9AA3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834640" y="1554480"/>
            <a:ext cx="1920240" cy="1188720"/>
          </a:xfrm>
          <a:prstGeom prst="roundRect">
            <a:avLst>
              <a:gd name="adj" fmla="val 12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Outbox row</a:t>
            </a:r>
          </a:p>
          <a:p>
            <a:pPr algn="ctr"/>
            <a:r>
              <a:rPr sz="1300" b="0">
                <a:solidFill>
                  <a:srgbClr val="FFFFFF"/>
                </a:solidFill>
                <a:latin typeface="Calibri"/>
              </a:rPr>
              <a:t>same transaction</a:t>
            </a:r>
          </a:p>
          <a:p>
            <a:pPr algn="ctr"/>
            <a:r>
              <a:rPr sz="1300" b="0">
                <a:solidFill>
                  <a:srgbClr val="FFFFFF"/>
                </a:solidFill>
                <a:latin typeface="Calibri"/>
              </a:rPr>
              <a:t>as the change</a:t>
            </a:r>
          </a:p>
        </p:txBody>
      </p:sp>
      <p:sp>
        <p:nvSpPr>
          <p:cNvPr id="9" name="Right Arrow 8"/>
          <p:cNvSpPr/>
          <p:nvPr/>
        </p:nvSpPr>
        <p:spPr>
          <a:xfrm>
            <a:off x="4773168" y="2011680"/>
            <a:ext cx="320040" cy="274320"/>
          </a:xfrm>
          <a:prstGeom prst="rightArrow">
            <a:avLst/>
          </a:prstGeom>
          <a:solidFill>
            <a:srgbClr val="9AA3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20640" y="1554480"/>
            <a:ext cx="1920240" cy="1188720"/>
          </a:xfrm>
          <a:prstGeom prst="roundRect">
            <a:avLst>
              <a:gd name="adj" fmla="val 12000"/>
            </a:avLst>
          </a:prstGeom>
          <a:solidFill>
            <a:srgbClr val="1F242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Worker</a:t>
            </a:r>
          </a:p>
          <a:p>
            <a:pPr algn="ctr"/>
            <a:r>
              <a:rPr sz="1300" b="0">
                <a:solidFill>
                  <a:srgbClr val="FFFFFF"/>
                </a:solidFill>
                <a:latin typeface="Calibri"/>
              </a:rPr>
              <a:t>every 10 s, SKIP LOCKED</a:t>
            </a:r>
          </a:p>
        </p:txBody>
      </p:sp>
      <p:sp>
        <p:nvSpPr>
          <p:cNvPr id="11" name="Right Arrow 10"/>
          <p:cNvSpPr/>
          <p:nvPr/>
        </p:nvSpPr>
        <p:spPr>
          <a:xfrm>
            <a:off x="7059168" y="2011680"/>
            <a:ext cx="320040" cy="274320"/>
          </a:xfrm>
          <a:prstGeom prst="rightArrow">
            <a:avLst/>
          </a:prstGeom>
          <a:solidFill>
            <a:srgbClr val="9AA3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06640" y="1554480"/>
            <a:ext cx="1920240" cy="1188720"/>
          </a:xfrm>
          <a:prstGeom prst="roundRect">
            <a:avLst>
              <a:gd name="adj" fmla="val 12000"/>
            </a:avLst>
          </a:prstGeom>
          <a:solidFill>
            <a:srgbClr val="1F242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Notification</a:t>
            </a:r>
          </a:p>
          <a:p>
            <a:pPr algn="ctr"/>
            <a:r>
              <a:rPr sz="1300" b="0">
                <a:solidFill>
                  <a:srgbClr val="FFFFFF"/>
                </a:solidFill>
                <a:latin typeface="Calibri"/>
              </a:rPr>
              <a:t>per user, no duplicates</a:t>
            </a:r>
          </a:p>
        </p:txBody>
      </p:sp>
      <p:sp>
        <p:nvSpPr>
          <p:cNvPr id="13" name="Right Arrow 12"/>
          <p:cNvSpPr/>
          <p:nvPr/>
        </p:nvSpPr>
        <p:spPr>
          <a:xfrm>
            <a:off x="9345167" y="2011680"/>
            <a:ext cx="320040" cy="274320"/>
          </a:xfrm>
          <a:prstGeom prst="rightArrow">
            <a:avLst/>
          </a:prstGeom>
          <a:solidFill>
            <a:srgbClr val="9AA3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692640" y="1554480"/>
            <a:ext cx="1920240" cy="1188720"/>
          </a:xfrm>
          <a:prstGeom prst="roundRect">
            <a:avLst>
              <a:gd name="adj" fmla="val 12000"/>
            </a:avLst>
          </a:prstGeom>
          <a:solidFill>
            <a:srgbClr val="1F242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Run log</a:t>
            </a:r>
          </a:p>
          <a:p>
            <a:pPr algn="ctr"/>
            <a:r>
              <a:rPr sz="1300" b="0">
                <a:solidFill>
                  <a:srgbClr val="FFFFFF"/>
                </a:solidFill>
                <a:latin typeface="Calibri"/>
              </a:rPr>
              <a:t>counts, error,</a:t>
            </a:r>
          </a:p>
          <a:p>
            <a:pPr algn="ctr"/>
            <a:r>
              <a:rPr sz="1300" b="0">
                <a:solidFill>
                  <a:srgbClr val="FFFFFF"/>
                </a:solidFill>
                <a:latin typeface="Calibri"/>
              </a:rPr>
              <a:t>correlation id</a:t>
            </a:r>
          </a:p>
        </p:txBody>
      </p:sp>
      <p:sp>
        <p:nvSpPr>
          <p:cNvPr id="15" name="Rounded Rectangle 14"/>
          <p:cNvSpPr/>
          <p:nvPr/>
        </p:nvSpPr>
        <p:spPr>
          <a:xfrm>
            <a:off x="548640" y="3108960"/>
            <a:ext cx="5486400" cy="2377440"/>
          </a:xfrm>
          <a:prstGeom prst="roundRect">
            <a:avLst>
              <a:gd name="adj" fmla="val 6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182112"/>
            <a:ext cx="5266944" cy="365760"/>
          </a:xfrm>
          <a:prstGeom prst="rect">
            <a:avLst/>
          </a:prstGeom>
          <a:noFill/>
        </p:spPr>
        <p:txBody>
          <a:bodyPr wrap="square" anchor="t" lIns="45720" rIns="45720">
            <a:spAutoFit/>
          </a:bodyPr>
          <a:lstStyle/>
          <a:p>
            <a:pPr>
              <a:spcAft>
                <a:spcPts val="600"/>
              </a:spcAft>
            </a:pPr>
            <a:r>
              <a:rPr sz="1500" b="1">
                <a:solidFill>
                  <a:srgbClr val="C8102E"/>
                </a:solidFill>
                <a:latin typeface="Calibri"/>
              </a:rPr>
              <a:t>Safe by design</a:t>
            </a:r>
          </a:p>
        </p:txBody>
      </p:sp>
      <p:sp>
        <p:nvSpPr>
          <p:cNvPr id="17" name="TextBox 16"/>
          <p:cNvSpPr txBox="1"/>
          <p:nvPr/>
        </p:nvSpPr>
        <p:spPr>
          <a:xfrm>
            <a:off x="658368" y="3566160"/>
            <a:ext cx="5266944" cy="1874519"/>
          </a:xfrm>
          <a:prstGeom prst="rect">
            <a:avLst/>
          </a:prstGeom>
          <a:noFill/>
        </p:spPr>
        <p:txBody>
          <a:bodyPr wrap="square" anchor="t" lIns="45720" rIns="45720">
            <a:spAutoFit/>
          </a:bodyPr>
          <a:lstStyle/>
          <a:p>
            <a:pPr>
              <a:spcAft>
                <a:spcPts val="600"/>
              </a:spcAft>
            </a:pPr>
            <a:r>
              <a:rPr sz="1500" b="0">
                <a:solidFill>
                  <a:srgbClr val="1F242B"/>
                </a:solidFill>
                <a:latin typeface="Calibri"/>
              </a:rPr>
              <a:t>Same event cannot be queued twice (unique dedup key)</a:t>
            </a:r>
          </a:p>
          <a:p>
            <a:pPr>
              <a:spcAft>
                <a:spcPts val="600"/>
              </a:spcAft>
            </a:pPr>
            <a:r>
              <a:rPr sz="1500" b="0">
                <a:solidFill>
                  <a:srgbClr val="1F242B"/>
                </a:solidFill>
                <a:latin typeface="Calibri"/>
              </a:rPr>
              <a:t>Same message cannot notify a user twice</a:t>
            </a:r>
          </a:p>
          <a:p>
            <a:pPr>
              <a:spcAft>
                <a:spcPts val="600"/>
              </a:spcAft>
            </a:pPr>
            <a:r>
              <a:rPr sz="1500" b="0">
                <a:solidFill>
                  <a:srgbClr val="1F242B"/>
                </a:solidFill>
                <a:latin typeface="Calibri"/>
              </a:rPr>
              <a:t>Failure: backoff, then 'failed' after 5 attempts, with last error</a:t>
            </a:r>
          </a:p>
          <a:p>
            <a:pPr>
              <a:spcAft>
                <a:spcPts val="600"/>
              </a:spcAft>
            </a:pPr>
            <a:r>
              <a:rPr sz="1500" b="0">
                <a:solidFill>
                  <a:srgbClr val="1F242B"/>
                </a:solidFill>
                <a:latin typeface="Calibri"/>
              </a:rPr>
              <a:t>Admin Retry (with confirm) puts it back in the queue</a:t>
            </a:r>
          </a:p>
        </p:txBody>
      </p:sp>
      <p:sp>
        <p:nvSpPr>
          <p:cNvPr id="18" name="Rounded Rectangle 17"/>
          <p:cNvSpPr/>
          <p:nvPr/>
        </p:nvSpPr>
        <p:spPr>
          <a:xfrm>
            <a:off x="6263640" y="3108960"/>
            <a:ext cx="5394960" cy="2377440"/>
          </a:xfrm>
          <a:prstGeom prst="roundRect">
            <a:avLst>
              <a:gd name="adj" fmla="val 6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3368" y="3182112"/>
            <a:ext cx="5175504" cy="365760"/>
          </a:xfrm>
          <a:prstGeom prst="rect">
            <a:avLst/>
          </a:prstGeom>
          <a:noFill/>
        </p:spPr>
        <p:txBody>
          <a:bodyPr wrap="square" anchor="t" lIns="45720" rIns="45720">
            <a:spAutoFit/>
          </a:bodyPr>
          <a:lstStyle/>
          <a:p>
            <a:pPr>
              <a:spcAft>
                <a:spcPts val="600"/>
              </a:spcAft>
            </a:pPr>
            <a:r>
              <a:rPr sz="1500" b="1">
                <a:solidFill>
                  <a:srgbClr val="C8102E"/>
                </a:solidFill>
                <a:latin typeface="Calibri"/>
              </a:rPr>
              <a:t>Evidence (docs/automation-evidence.md)</a:t>
            </a:r>
          </a:p>
        </p:txBody>
      </p:sp>
      <p:sp>
        <p:nvSpPr>
          <p:cNvPr id="20" name="TextBox 19"/>
          <p:cNvSpPr txBox="1"/>
          <p:nvPr/>
        </p:nvSpPr>
        <p:spPr>
          <a:xfrm>
            <a:off x="6373368" y="3566160"/>
            <a:ext cx="5175504" cy="1874519"/>
          </a:xfrm>
          <a:prstGeom prst="rect">
            <a:avLst/>
          </a:prstGeom>
          <a:noFill/>
        </p:spPr>
        <p:txBody>
          <a:bodyPr wrap="square" anchor="t" lIns="45720" rIns="45720">
            <a:spAutoFit/>
          </a:bodyPr>
          <a:lstStyle/>
          <a:p>
            <a:pPr>
              <a:spcAft>
                <a:spcPts val="600"/>
              </a:spcAft>
            </a:pPr>
            <a:r>
              <a:rPr sz="1500" b="0">
                <a:solidFill>
                  <a:srgbClr val="1F242B"/>
                </a:solidFill>
                <a:latin typeface="Calibri"/>
              </a:rPr>
              <a:t>Fresh reset: message 9 processed by the worker (run recorded)</a:t>
            </a:r>
          </a:p>
          <a:p>
            <a:pPr>
              <a:spcAft>
                <a:spcPts val="600"/>
              </a:spcAft>
            </a:pPr>
            <a:r>
              <a:rPr sz="1500" b="0">
                <a:solidFill>
                  <a:srgbClr val="1F242B"/>
                </a:solidFill>
                <a:latin typeface="Calibri"/>
              </a:rPr>
              <a:t>Failed message 7 retried via API, processed on next run</a:t>
            </a:r>
          </a:p>
          <a:p>
            <a:pPr>
              <a:spcAft>
                <a:spcPts val="600"/>
              </a:spcAft>
            </a:pPr>
            <a:r>
              <a:rPr sz="1500" b="0">
                <a:solidFill>
                  <a:srgbClr val="1F242B"/>
                </a:solidFill>
                <a:latin typeface="Calibri"/>
              </a:rPr>
              <a:t>3 notifications, no duplicates</a:t>
            </a:r>
          </a:p>
          <a:p>
            <a:pPr>
              <a:spcAft>
                <a:spcPts val="600"/>
              </a:spcAft>
            </a:pPr>
            <a:r>
              <a:rPr sz="1500" b="0">
                <a:solidFill>
                  <a:srgbClr val="1F242B"/>
                </a:solidFill>
                <a:latin typeface="Calibri"/>
              </a:rPr>
              <a:t>Automated tests cover duplicate, failure and retry paths</a:t>
            </a:r>
          </a:p>
        </p:txBody>
      </p:sp>
      <p:sp>
        <p:nvSpPr>
          <p:cNvPr id="21" name="TextBox 20"/>
          <p:cNvSpPr txBox="1"/>
          <p:nvPr/>
        </p:nvSpPr>
        <p:spPr>
          <a:xfrm>
            <a:off x="548640" y="5715000"/>
            <a:ext cx="11155680" cy="548640"/>
          </a:xfrm>
          <a:prstGeom prst="rect">
            <a:avLst/>
          </a:prstGeom>
          <a:noFill/>
        </p:spPr>
        <p:txBody>
          <a:bodyPr wrap="square" anchor="t" lIns="45720" rIns="45720">
            <a:spAutoFit/>
          </a:bodyPr>
          <a:lstStyle/>
          <a:p>
            <a:pPr>
              <a:spcAft>
                <a:spcPts val="600"/>
              </a:spcAft>
            </a:pPr>
            <a:r>
              <a:rPr sz="1300" b="0">
                <a:solidFill>
                  <a:srgbClr val="5B6470"/>
                </a:solidFill>
                <a:latin typeface="Calibri"/>
              </a:rPr>
              <a:t>Message 7 is a seeded 'simulated' failure, not a defect: it exists to demonstrate the retry path.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nchor="t" lIns="45720" rIns="45720">
            <a:spAutoFit/>
          </a:bodyPr>
          <a:lstStyle/>
          <a:p>
            <a:pPr>
              <a:spcAft>
                <a:spcPts val="600"/>
              </a:spcAft>
            </a:pPr>
            <a:r>
              <a:rPr sz="3000" b="1">
                <a:solidFill>
                  <a:srgbClr val="1F242B"/>
                </a:solidFill>
                <a:latin typeface="Calibri"/>
              </a:rPr>
              <a:t>AI approach: specs first, tests as the judge, ownership throughout</a:t>
            </a:r>
          </a:p>
        </p:txBody>
      </p:sp>
      <p:sp>
        <p:nvSpPr>
          <p:cNvPr id="4" name="TextBox 3"/>
          <p:cNvSpPr txBox="1"/>
          <p:nvPr/>
        </p:nvSpPr>
        <p:spPr>
          <a:xfrm>
            <a:off x="548640" y="6419088"/>
            <a:ext cx="8229600" cy="274320"/>
          </a:xfrm>
          <a:prstGeom prst="rect">
            <a:avLst/>
          </a:prstGeom>
          <a:noFill/>
        </p:spPr>
        <p:txBody>
          <a:bodyPr wrap="square" anchor="t" lIns="45720" rIns="45720">
            <a:spAutoFit/>
          </a:bodyPr>
          <a:lstStyle/>
          <a:p>
            <a:pPr>
              <a:spcAft>
                <a:spcPts val="600"/>
              </a:spcAft>
            </a:pPr>
            <a:r>
              <a:rPr sz="1000" b="0">
                <a:solidFill>
                  <a:srgbClr val="5B6470"/>
                </a:solidFill>
                <a:latin typeface="Calibri"/>
              </a:rPr>
              <a:t>PMO Portfolio &amp; Financial Control Portal  |  baseline 30 September 2026, all data fictional</a:t>
            </a:r>
          </a:p>
        </p:txBody>
      </p:sp>
      <p:sp>
        <p:nvSpPr>
          <p:cNvPr id="5" name="TextBox 4"/>
          <p:cNvSpPr txBox="1"/>
          <p:nvPr/>
        </p:nvSpPr>
        <p:spPr>
          <a:xfrm>
            <a:off x="10972800" y="6419088"/>
            <a:ext cx="731520" cy="274320"/>
          </a:xfrm>
          <a:prstGeom prst="rect">
            <a:avLst/>
          </a:prstGeom>
          <a:noFill/>
        </p:spPr>
        <p:txBody>
          <a:bodyPr wrap="square" anchor="t" lIns="45720" rIns="45720">
            <a:spAutoFit/>
          </a:bodyPr>
          <a:lstStyle/>
          <a:p>
            <a:pPr>
              <a:spcAft>
                <a:spcPts val="600"/>
              </a:spcAft>
            </a:pPr>
            <a:r>
              <a:rPr sz="1000" b="0">
                <a:solidFill>
                  <a:srgbClr val="5B6470"/>
                </a:solidFill>
                <a:latin typeface="Calibri"/>
              </a:rPr>
              <a:t>7</a:t>
            </a:r>
          </a:p>
        </p:txBody>
      </p:sp>
      <p:sp>
        <p:nvSpPr>
          <p:cNvPr id="6" name="Rounded Rectangle 5"/>
          <p:cNvSpPr/>
          <p:nvPr/>
        </p:nvSpPr>
        <p:spPr>
          <a:xfrm>
            <a:off x="548640" y="1371600"/>
            <a:ext cx="5486400" cy="2286000"/>
          </a:xfrm>
          <a:prstGeom prst="roundRect">
            <a:avLst>
              <a:gd name="adj" fmla="val 6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444752"/>
            <a:ext cx="5266944" cy="365760"/>
          </a:xfrm>
          <a:prstGeom prst="rect">
            <a:avLst/>
          </a:prstGeom>
          <a:noFill/>
        </p:spPr>
        <p:txBody>
          <a:bodyPr wrap="square" anchor="t" lIns="45720" rIns="45720">
            <a:spAutoFit/>
          </a:bodyPr>
          <a:lstStyle/>
          <a:p>
            <a:pPr>
              <a:spcAft>
                <a:spcPts val="600"/>
              </a:spcAft>
            </a:pPr>
            <a:r>
              <a:rPr sz="1500" b="1">
                <a:solidFill>
                  <a:srgbClr val="C8102E"/>
                </a:solidFill>
                <a:latin typeface="Calibri"/>
              </a:rPr>
              <a:t>Prompt strategy</a:t>
            </a:r>
          </a:p>
        </p:txBody>
      </p:sp>
      <p:sp>
        <p:nvSpPr>
          <p:cNvPr id="8" name="TextBox 7"/>
          <p:cNvSpPr txBox="1"/>
          <p:nvPr/>
        </p:nvSpPr>
        <p:spPr>
          <a:xfrm>
            <a:off x="658368" y="1828800"/>
            <a:ext cx="5266944" cy="1783080"/>
          </a:xfrm>
          <a:prstGeom prst="rect">
            <a:avLst/>
          </a:prstGeom>
          <a:noFill/>
        </p:spPr>
        <p:txBody>
          <a:bodyPr wrap="square" anchor="t" lIns="45720" rIns="45720">
            <a:spAutoFit/>
          </a:bodyPr>
          <a:lstStyle/>
          <a:p>
            <a:pPr>
              <a:spcAft>
                <a:spcPts val="600"/>
              </a:spcAft>
            </a:pPr>
            <a:r>
              <a:rPr sz="1500" b="0">
                <a:solidFill>
                  <a:srgbClr val="1F242B"/>
                </a:solidFill>
                <a:latin typeface="Calibri"/>
              </a:rPr>
              <a:t>Specs first: stories and formulas in docs, prompts cite story ids</a:t>
            </a:r>
          </a:p>
          <a:p>
            <a:pPr>
              <a:spcAft>
                <a:spcPts val="600"/>
              </a:spcAft>
            </a:pPr>
            <a:r>
              <a:rPr sz="1500" b="0">
                <a:solidFill>
                  <a:srgbClr val="1F242B"/>
                </a:solidFill>
                <a:latin typeface="Calibri"/>
              </a:rPr>
              <a:t>Plan, approve, implement, explain-back per vertical slice</a:t>
            </a:r>
          </a:p>
          <a:p>
            <a:pPr>
              <a:spcAft>
                <a:spcPts val="600"/>
              </a:spcAft>
            </a:pPr>
            <a:r>
              <a:rPr sz="1500" b="0">
                <a:solidFill>
                  <a:srgbClr val="1F242B"/>
                </a:solidFill>
                <a:latin typeface="Calibri"/>
              </a:rPr>
              <a:t>Rules written by me; AI implements, tests judge</a:t>
            </a:r>
          </a:p>
          <a:p>
            <a:pPr>
              <a:spcAft>
                <a:spcPts val="600"/>
              </a:spcAft>
            </a:pPr>
            <a:r>
              <a:rPr sz="1500" b="0">
                <a:solidFill>
                  <a:srgbClr val="1F242B"/>
                </a:solidFill>
                <a:latin typeface="Calibri"/>
              </a:rPr>
              <a:t>Debugging: failing test + log + SQL, hypothesis before fix</a:t>
            </a:r>
          </a:p>
        </p:txBody>
      </p:sp>
      <p:sp>
        <p:nvSpPr>
          <p:cNvPr id="9" name="Rounded Rectangle 8"/>
          <p:cNvSpPr/>
          <p:nvPr/>
        </p:nvSpPr>
        <p:spPr>
          <a:xfrm>
            <a:off x="6263640" y="1371600"/>
            <a:ext cx="5394960" cy="2286000"/>
          </a:xfrm>
          <a:prstGeom prst="roundRect">
            <a:avLst>
              <a:gd name="adj" fmla="val 6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3368" y="1444752"/>
            <a:ext cx="5175504" cy="365760"/>
          </a:xfrm>
          <a:prstGeom prst="rect">
            <a:avLst/>
          </a:prstGeom>
          <a:noFill/>
        </p:spPr>
        <p:txBody>
          <a:bodyPr wrap="square" anchor="t" lIns="45720" rIns="45720">
            <a:spAutoFit/>
          </a:bodyPr>
          <a:lstStyle/>
          <a:p>
            <a:pPr>
              <a:spcAft>
                <a:spcPts val="600"/>
              </a:spcAft>
            </a:pPr>
            <a:r>
              <a:rPr sz="1500" b="1">
                <a:solidFill>
                  <a:srgbClr val="C8102E"/>
                </a:solidFill>
                <a:latin typeface="Calibri"/>
              </a:rPr>
              <a:t>Where the AI was wrong (and how I caught it)</a:t>
            </a:r>
          </a:p>
        </p:txBody>
      </p:sp>
      <p:sp>
        <p:nvSpPr>
          <p:cNvPr id="11" name="TextBox 10"/>
          <p:cNvSpPr txBox="1"/>
          <p:nvPr/>
        </p:nvSpPr>
        <p:spPr>
          <a:xfrm>
            <a:off x="6373368" y="1828800"/>
            <a:ext cx="5175504" cy="1783080"/>
          </a:xfrm>
          <a:prstGeom prst="rect">
            <a:avLst/>
          </a:prstGeom>
          <a:noFill/>
        </p:spPr>
        <p:txBody>
          <a:bodyPr wrap="square" anchor="t" lIns="45720" rIns="45720">
            <a:spAutoFit/>
          </a:bodyPr>
          <a:lstStyle/>
          <a:p>
            <a:pPr>
              <a:spcAft>
                <a:spcPts val="600"/>
              </a:spcAft>
            </a:pPr>
            <a:r>
              <a:rPr sz="1500" b="0">
                <a:solidFill>
                  <a:srgbClr val="1F242B"/>
                </a:solidFill>
                <a:latin typeface="Calibri"/>
              </a:rPr>
              <a:t>Integer division: progress 63 vs 63.24 (test with independent SQL)</a:t>
            </a:r>
          </a:p>
          <a:p>
            <a:pPr>
              <a:spcAft>
                <a:spcPts val="600"/>
              </a:spcAft>
            </a:pPr>
            <a:r>
              <a:rPr sz="1500" b="0">
                <a:solidFill>
                  <a:srgbClr val="1F242B"/>
                </a:solidFill>
                <a:latin typeface="Calibri"/>
              </a:rPr>
              <a:t>Seed audit names differed from the API (endpoint test)</a:t>
            </a:r>
          </a:p>
          <a:p>
            <a:pPr>
              <a:spcAft>
                <a:spcPts val="600"/>
              </a:spcAft>
            </a:pPr>
            <a:r>
              <a:rPr sz="1500" b="0">
                <a:solidFill>
                  <a:srgbClr val="1F242B"/>
                </a:solidFill>
                <a:latin typeface="Calibri"/>
              </a:rPr>
              <a:t>Green build, broken table at runtime (browser console)</a:t>
            </a:r>
          </a:p>
          <a:p>
            <a:pPr>
              <a:spcAft>
                <a:spcPts val="600"/>
              </a:spcAft>
            </a:pPr>
            <a:r>
              <a:rPr sz="1500" b="0">
                <a:solidFill>
                  <a:srgbClr val="1F242B"/>
                </a:solidFill>
                <a:latin typeface="Calibri"/>
              </a:rPr>
              <a:t>Wrong claim about the importer (read the code, re-ran it)</a:t>
            </a:r>
          </a:p>
        </p:txBody>
      </p:sp>
      <p:sp>
        <p:nvSpPr>
          <p:cNvPr id="12" name="Rounded Rectangle 11"/>
          <p:cNvSpPr/>
          <p:nvPr/>
        </p:nvSpPr>
        <p:spPr>
          <a:xfrm>
            <a:off x="548640" y="3886200"/>
            <a:ext cx="11109960" cy="2194560"/>
          </a:xfrm>
          <a:prstGeom prst="roundRect">
            <a:avLst>
              <a:gd name="adj" fmla="val 6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959352"/>
            <a:ext cx="10890504" cy="365760"/>
          </a:xfrm>
          <a:prstGeom prst="rect">
            <a:avLst/>
          </a:prstGeom>
          <a:noFill/>
        </p:spPr>
        <p:txBody>
          <a:bodyPr wrap="square" anchor="t" lIns="45720" rIns="45720">
            <a:spAutoFit/>
          </a:bodyPr>
          <a:lstStyle/>
          <a:p>
            <a:pPr>
              <a:spcAft>
                <a:spcPts val="600"/>
              </a:spcAft>
            </a:pPr>
            <a:r>
              <a:rPr sz="1500" b="1">
                <a:solidFill>
                  <a:srgbClr val="C8102E"/>
                </a:solidFill>
                <a:latin typeface="Calibri"/>
              </a:rPr>
              <a:t>Ownership</a:t>
            </a:r>
          </a:p>
        </p:txBody>
      </p:sp>
      <p:sp>
        <p:nvSpPr>
          <p:cNvPr id="14" name="TextBox 13"/>
          <p:cNvSpPr txBox="1"/>
          <p:nvPr/>
        </p:nvSpPr>
        <p:spPr>
          <a:xfrm>
            <a:off x="658368" y="4343400"/>
            <a:ext cx="10890504" cy="1691639"/>
          </a:xfrm>
          <a:prstGeom prst="rect">
            <a:avLst/>
          </a:prstGeom>
          <a:noFill/>
        </p:spPr>
        <p:txBody>
          <a:bodyPr wrap="square" anchor="t" lIns="45720" rIns="45720">
            <a:spAutoFit/>
          </a:bodyPr>
          <a:lstStyle/>
          <a:p>
            <a:pPr>
              <a:spcAft>
                <a:spcPts val="600"/>
              </a:spcAft>
            </a:pPr>
            <a:r>
              <a:rPr sz="1500" b="0">
                <a:solidFill>
                  <a:srgbClr val="1F242B"/>
                </a:solidFill>
                <a:latin typeface="Calibri"/>
              </a:rPr>
              <a:t>8 log entries with problem, prompt, result, accepted or rejected, test evidence; tutor walkthrough per module and a list of where code differs from the docs</a:t>
            </a:r>
          </a:p>
          <a:p>
            <a:pPr>
              <a:spcAft>
                <a:spcPts val="600"/>
              </a:spcAft>
            </a:pPr>
            <a:r>
              <a:rPr sz="1500" b="0">
                <a:solidFill>
                  <a:srgbClr val="1F242B"/>
                </a:solidFill>
                <a:latin typeface="Calibri"/>
              </a:rPr>
              <a:t>I can trace any request end to end, explain the SQL and make a live change</a:t>
            </a:r>
          </a:p>
          <a:p>
            <a:pPr>
              <a:spcAft>
                <a:spcPts val="600"/>
              </a:spcAft>
            </a:pPr>
            <a:r>
              <a:rPr sz="1500" b="0">
                <a:solidFill>
                  <a:srgbClr val="1F242B"/>
                </a:solidFill>
                <a:latin typeface="Calibri"/>
              </a:rPr>
              <a:t>Disclosure of AI-assisted areas and what I validated personally is in docs/ai-development-log.md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nchor="t" lIns="45720" rIns="45720">
            <a:spAutoFit/>
          </a:bodyPr>
          <a:lstStyle/>
          <a:p>
            <a:pPr>
              <a:spcAft>
                <a:spcPts val="600"/>
              </a:spcAft>
            </a:pPr>
            <a:r>
              <a:rPr sz="3000" b="1">
                <a:solidFill>
                  <a:srgbClr val="1F242B"/>
                </a:solidFill>
                <a:latin typeface="Calibri"/>
              </a:rPr>
              <a:t>Testing and delivery: proven rules, reproducible setup</a:t>
            </a:r>
          </a:p>
        </p:txBody>
      </p:sp>
      <p:sp>
        <p:nvSpPr>
          <p:cNvPr id="4" name="TextBox 3"/>
          <p:cNvSpPr txBox="1"/>
          <p:nvPr/>
        </p:nvSpPr>
        <p:spPr>
          <a:xfrm>
            <a:off x="548640" y="6419088"/>
            <a:ext cx="8229600" cy="274320"/>
          </a:xfrm>
          <a:prstGeom prst="rect">
            <a:avLst/>
          </a:prstGeom>
          <a:noFill/>
        </p:spPr>
        <p:txBody>
          <a:bodyPr wrap="square" anchor="t" lIns="45720" rIns="45720">
            <a:spAutoFit/>
          </a:bodyPr>
          <a:lstStyle/>
          <a:p>
            <a:pPr>
              <a:spcAft>
                <a:spcPts val="600"/>
              </a:spcAft>
            </a:pPr>
            <a:r>
              <a:rPr sz="1000" b="0">
                <a:solidFill>
                  <a:srgbClr val="5B6470"/>
                </a:solidFill>
                <a:latin typeface="Calibri"/>
              </a:rPr>
              <a:t>PMO Portfolio &amp; Financial Control Portal  |  baseline 30 September 2026, all data fictional</a:t>
            </a:r>
          </a:p>
        </p:txBody>
      </p:sp>
      <p:sp>
        <p:nvSpPr>
          <p:cNvPr id="5" name="TextBox 4"/>
          <p:cNvSpPr txBox="1"/>
          <p:nvPr/>
        </p:nvSpPr>
        <p:spPr>
          <a:xfrm>
            <a:off x="10972800" y="6419088"/>
            <a:ext cx="731520" cy="274320"/>
          </a:xfrm>
          <a:prstGeom prst="rect">
            <a:avLst/>
          </a:prstGeom>
          <a:noFill/>
        </p:spPr>
        <p:txBody>
          <a:bodyPr wrap="square" anchor="t" lIns="45720" rIns="45720">
            <a:spAutoFit/>
          </a:bodyPr>
          <a:lstStyle/>
          <a:p>
            <a:pPr>
              <a:spcAft>
                <a:spcPts val="600"/>
              </a:spcAft>
            </a:pPr>
            <a:r>
              <a:rPr sz="1000" b="0">
                <a:solidFill>
                  <a:srgbClr val="5B6470"/>
                </a:solidFill>
                <a:latin typeface="Calibri"/>
              </a:rPr>
              <a:t>8</a:t>
            </a:r>
          </a:p>
        </p:txBody>
      </p:sp>
      <p:sp>
        <p:nvSpPr>
          <p:cNvPr id="6" name="Rounded Rectangle 5"/>
          <p:cNvSpPr/>
          <p:nvPr/>
        </p:nvSpPr>
        <p:spPr>
          <a:xfrm>
            <a:off x="548640" y="1371600"/>
            <a:ext cx="3657600" cy="3017520"/>
          </a:xfrm>
          <a:prstGeom prst="roundRect">
            <a:avLst>
              <a:gd name="adj" fmla="val 6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444752"/>
            <a:ext cx="3438144" cy="365760"/>
          </a:xfrm>
          <a:prstGeom prst="rect">
            <a:avLst/>
          </a:prstGeom>
          <a:noFill/>
        </p:spPr>
        <p:txBody>
          <a:bodyPr wrap="square" anchor="t" lIns="45720" rIns="45720">
            <a:spAutoFit/>
          </a:bodyPr>
          <a:lstStyle/>
          <a:p>
            <a:pPr>
              <a:spcAft>
                <a:spcPts val="600"/>
              </a:spcAft>
            </a:pPr>
            <a:r>
              <a:rPr sz="1500" b="1">
                <a:solidFill>
                  <a:srgbClr val="C8102E"/>
                </a:solidFill>
                <a:latin typeface="Calibri"/>
              </a:rPr>
              <a:t>Automated checks: 246</a:t>
            </a:r>
          </a:p>
        </p:txBody>
      </p:sp>
      <p:sp>
        <p:nvSpPr>
          <p:cNvPr id="8" name="TextBox 7"/>
          <p:cNvSpPr txBox="1"/>
          <p:nvPr/>
        </p:nvSpPr>
        <p:spPr>
          <a:xfrm>
            <a:off x="658368" y="1828800"/>
            <a:ext cx="3438144" cy="2514600"/>
          </a:xfrm>
          <a:prstGeom prst="rect">
            <a:avLst/>
          </a:prstGeom>
          <a:noFill/>
        </p:spPr>
        <p:txBody>
          <a:bodyPr wrap="square" anchor="t" lIns="45720" rIns="45720">
            <a:spAutoFit/>
          </a:bodyPr>
          <a:lstStyle/>
          <a:p>
            <a:pPr>
              <a:spcAft>
                <a:spcPts val="600"/>
              </a:spcAft>
            </a:pPr>
            <a:r>
              <a:rPr sz="1500" b="0">
                <a:solidFill>
                  <a:srgbClr val="1F242B"/>
                </a:solidFill>
                <a:latin typeface="Calibri"/>
              </a:rPr>
              <a:t>51 unit: rules, EAC, transitions</a:t>
            </a:r>
          </a:p>
          <a:p>
            <a:pPr>
              <a:spcAft>
                <a:spcPts val="600"/>
              </a:spcAft>
            </a:pPr>
            <a:r>
              <a:rPr sz="1500" b="0">
                <a:solidFill>
                  <a:srgbClr val="1F242B"/>
                </a:solidFill>
                <a:latin typeface="Calibri"/>
              </a:rPr>
              <a:t>195 integration (Testcontainers PostgreSQL)</a:t>
            </a:r>
          </a:p>
          <a:p>
            <a:pPr>
              <a:spcAft>
                <a:spcPts val="600"/>
              </a:spcAft>
            </a:pPr>
            <a:r>
              <a:rPr sz="1500" b="0">
                <a:solidFill>
                  <a:srgbClr val="1F242B"/>
                </a:solidFill>
                <a:latin typeface="Calibri"/>
              </a:rPr>
              <a:t>RBAC: Contributor denied on approve and post</a:t>
            </a:r>
          </a:p>
          <a:p>
            <a:pPr>
              <a:spcAft>
                <a:spcPts val="600"/>
              </a:spcAft>
            </a:pPr>
            <a:r>
              <a:rPr sz="1500" b="0">
                <a:solidFill>
                  <a:srgbClr val="1F242B"/>
                </a:solidFill>
                <a:latin typeface="Calibri"/>
              </a:rPr>
              <a:t>409 on stale version, one cost per Idempotency-Key</a:t>
            </a:r>
          </a:p>
          <a:p>
            <a:pPr>
              <a:spcAft>
                <a:spcPts val="600"/>
              </a:spcAft>
            </a:pPr>
            <a:r>
              <a:rPr sz="1500" b="0">
                <a:solidFill>
                  <a:srgbClr val="1F242B"/>
                </a:solidFill>
                <a:latin typeface="Calibri"/>
              </a:rPr>
              <a:t>Error log with correlation id</a:t>
            </a:r>
          </a:p>
        </p:txBody>
      </p:sp>
      <p:sp>
        <p:nvSpPr>
          <p:cNvPr id="9" name="Rounded Rectangle 8"/>
          <p:cNvSpPr/>
          <p:nvPr/>
        </p:nvSpPr>
        <p:spPr>
          <a:xfrm>
            <a:off x="4389120" y="1371600"/>
            <a:ext cx="3657600" cy="3017520"/>
          </a:xfrm>
          <a:prstGeom prst="roundRect">
            <a:avLst>
              <a:gd name="adj" fmla="val 6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8848" y="1444752"/>
            <a:ext cx="3438144" cy="365760"/>
          </a:xfrm>
          <a:prstGeom prst="rect">
            <a:avLst/>
          </a:prstGeom>
          <a:noFill/>
        </p:spPr>
        <p:txBody>
          <a:bodyPr wrap="square" anchor="t" lIns="45720" rIns="45720">
            <a:spAutoFit/>
          </a:bodyPr>
          <a:lstStyle/>
          <a:p>
            <a:pPr>
              <a:spcAft>
                <a:spcPts val="600"/>
              </a:spcAft>
            </a:pPr>
            <a:r>
              <a:rPr sz="1500" b="1">
                <a:solidFill>
                  <a:srgbClr val="C8102E"/>
                </a:solidFill>
                <a:latin typeface="Calibri"/>
              </a:rPr>
              <a:t>Security</a:t>
            </a:r>
          </a:p>
        </p:txBody>
      </p:sp>
      <p:sp>
        <p:nvSpPr>
          <p:cNvPr id="11" name="TextBox 10"/>
          <p:cNvSpPr txBox="1"/>
          <p:nvPr/>
        </p:nvSpPr>
        <p:spPr>
          <a:xfrm>
            <a:off x="4498848" y="1828800"/>
            <a:ext cx="3438144" cy="2514600"/>
          </a:xfrm>
          <a:prstGeom prst="rect">
            <a:avLst/>
          </a:prstGeom>
          <a:noFill/>
        </p:spPr>
        <p:txBody>
          <a:bodyPr wrap="square" anchor="t" lIns="45720" rIns="45720">
            <a:spAutoFit/>
          </a:bodyPr>
          <a:lstStyle/>
          <a:p>
            <a:pPr>
              <a:spcAft>
                <a:spcPts val="600"/>
              </a:spcAft>
            </a:pPr>
            <a:r>
              <a:rPr sz="1500" b="0">
                <a:solidFill>
                  <a:srgbClr val="1F242B"/>
                </a:solidFill>
                <a:latin typeface="Calibri"/>
              </a:rPr>
              <a:t>JWT 15 min, rotating refresh cookie (HttpOnly)</a:t>
            </a:r>
          </a:p>
          <a:p>
            <a:pPr>
              <a:spcAft>
                <a:spcPts val="600"/>
              </a:spcAft>
            </a:pPr>
            <a:r>
              <a:rPr sz="1500" b="0">
                <a:solidFill>
                  <a:srgbClr val="1F242B"/>
                </a:solidFill>
                <a:latin typeface="Calibri"/>
              </a:rPr>
              <a:t>Role policy + project scope on every route</a:t>
            </a:r>
          </a:p>
          <a:p>
            <a:pPr>
              <a:spcAft>
                <a:spcPts val="600"/>
              </a:spcAft>
            </a:pPr>
            <a:r>
              <a:rPr sz="1500" b="0">
                <a:solidFill>
                  <a:srgbClr val="1F242B"/>
                </a:solidFill>
                <a:latin typeface="Calibri"/>
              </a:rPr>
              <a:t>Parameterised SQL, allow-listed sorting</a:t>
            </a:r>
          </a:p>
          <a:p>
            <a:pPr>
              <a:spcAft>
                <a:spcPts val="600"/>
              </a:spcAft>
            </a:pPr>
            <a:r>
              <a:rPr sz="1500" b="0">
                <a:solidFill>
                  <a:srgbClr val="1F242B"/>
                </a:solidFill>
                <a:latin typeface="Calibri"/>
              </a:rPr>
              <a:t>Rate limit and lockout on login</a:t>
            </a:r>
          </a:p>
          <a:p>
            <a:pPr>
              <a:spcAft>
                <a:spcPts val="600"/>
              </a:spcAft>
            </a:pPr>
            <a:r>
              <a:rPr sz="1500" b="0">
                <a:solidFill>
                  <a:srgbClr val="1F242B"/>
                </a:solidFill>
                <a:latin typeface="Calibri"/>
              </a:rPr>
              <a:t>Secrets in user-secrets / env, never in Git</a:t>
            </a:r>
          </a:p>
        </p:txBody>
      </p:sp>
      <p:sp>
        <p:nvSpPr>
          <p:cNvPr id="12" name="Rounded Rectangle 11"/>
          <p:cNvSpPr/>
          <p:nvPr/>
        </p:nvSpPr>
        <p:spPr>
          <a:xfrm>
            <a:off x="8229600" y="1371600"/>
            <a:ext cx="3429000" cy="3017520"/>
          </a:xfrm>
          <a:prstGeom prst="roundRect">
            <a:avLst>
              <a:gd name="adj" fmla="val 6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1444752"/>
            <a:ext cx="3209544" cy="365760"/>
          </a:xfrm>
          <a:prstGeom prst="rect">
            <a:avLst/>
          </a:prstGeom>
          <a:noFill/>
        </p:spPr>
        <p:txBody>
          <a:bodyPr wrap="square" anchor="t" lIns="45720" rIns="45720">
            <a:spAutoFit/>
          </a:bodyPr>
          <a:lstStyle/>
          <a:p>
            <a:pPr>
              <a:spcAft>
                <a:spcPts val="600"/>
              </a:spcAft>
            </a:pPr>
            <a:r>
              <a:rPr sz="1500" b="1">
                <a:solidFill>
                  <a:srgbClr val="C8102E"/>
                </a:solidFill>
                <a:latin typeface="Calibri"/>
              </a:rPr>
              <a:t>Delivery</a:t>
            </a:r>
          </a:p>
        </p:txBody>
      </p:sp>
      <p:sp>
        <p:nvSpPr>
          <p:cNvPr id="14" name="TextBox 13"/>
          <p:cNvSpPr txBox="1"/>
          <p:nvPr/>
        </p:nvSpPr>
        <p:spPr>
          <a:xfrm>
            <a:off x="8339327" y="1828800"/>
            <a:ext cx="3209544" cy="2514600"/>
          </a:xfrm>
          <a:prstGeom prst="rect">
            <a:avLst/>
          </a:prstGeom>
          <a:noFill/>
        </p:spPr>
        <p:txBody>
          <a:bodyPr wrap="square" anchor="t" lIns="45720" rIns="45720">
            <a:spAutoFit/>
          </a:bodyPr>
          <a:lstStyle/>
          <a:p>
            <a:pPr>
              <a:spcAft>
                <a:spcPts val="600"/>
              </a:spcAft>
            </a:pPr>
            <a:r>
              <a:rPr sz="1500" b="0">
                <a:solidFill>
                  <a:srgbClr val="1F242B"/>
                </a:solidFill>
                <a:latin typeface="Calibri"/>
              </a:rPr>
              <a:t>Small conventional commits, README setup</a:t>
            </a:r>
          </a:p>
          <a:p>
            <a:pPr>
              <a:spcAft>
                <a:spcPts val="600"/>
              </a:spcAft>
            </a:pPr>
            <a:r>
              <a:rPr sz="1500" b="0">
                <a:solidFill>
                  <a:srgbClr val="1F242B"/>
                </a:solidFill>
                <a:latin typeface="Calibri"/>
              </a:rPr>
              <a:t>.env.example, EF migrations</a:t>
            </a:r>
          </a:p>
          <a:p>
            <a:pPr>
              <a:spcAft>
                <a:spcPts val="600"/>
              </a:spcAft>
            </a:pPr>
            <a:r>
              <a:rPr sz="1500" b="0">
                <a:solidFill>
                  <a:srgbClr val="1F242B"/>
                </a:solidFill>
                <a:latin typeface="Calibri"/>
              </a:rPr>
              <a:t>Seeded generator + 19 CSVs</a:t>
            </a:r>
          </a:p>
          <a:p>
            <a:pPr>
              <a:spcAft>
                <a:spcPts val="600"/>
              </a:spcAft>
            </a:pPr>
            <a:r>
              <a:rPr sz="1500" b="0">
                <a:solidFill>
                  <a:srgbClr val="1F242B"/>
                </a:solidFill>
                <a:latin typeface="Calibri"/>
              </a:rPr>
              <a:t>import-data and reset-db scripts</a:t>
            </a:r>
          </a:p>
          <a:p>
            <a:pPr>
              <a:spcAft>
                <a:spcPts val="600"/>
              </a:spcAft>
            </a:pPr>
            <a:r>
              <a:rPr sz="1500" b="0">
                <a:solidFill>
                  <a:srgbClr val="1F242B"/>
                </a:solidFill>
                <a:latin typeface="Calibri"/>
              </a:rPr>
              <a:t>Swagger + OpenAPI export</a:t>
            </a:r>
          </a:p>
        </p:txBody>
      </p:sp>
      <p:sp>
        <p:nvSpPr>
          <p:cNvPr id="15" name="Rounded Rectangle 14"/>
          <p:cNvSpPr/>
          <p:nvPr/>
        </p:nvSpPr>
        <p:spPr>
          <a:xfrm>
            <a:off x="548640" y="4572000"/>
            <a:ext cx="11109960" cy="1645920"/>
          </a:xfrm>
          <a:prstGeom prst="roundRect">
            <a:avLst>
              <a:gd name="adj" fmla="val 6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645152"/>
            <a:ext cx="10890504" cy="365760"/>
          </a:xfrm>
          <a:prstGeom prst="rect">
            <a:avLst/>
          </a:prstGeom>
          <a:noFill/>
        </p:spPr>
        <p:txBody>
          <a:bodyPr wrap="square" anchor="t" lIns="45720" rIns="45720">
            <a:spAutoFit/>
          </a:bodyPr>
          <a:lstStyle/>
          <a:p>
            <a:pPr>
              <a:spcAft>
                <a:spcPts val="600"/>
              </a:spcAft>
            </a:pPr>
            <a:r>
              <a:rPr sz="1500" b="1">
                <a:solidFill>
                  <a:srgbClr val="C8102E"/>
                </a:solidFill>
                <a:latin typeface="Calibri"/>
              </a:rPr>
              <a:t>Status and next steps</a:t>
            </a:r>
          </a:p>
        </p:txBody>
      </p:sp>
      <p:sp>
        <p:nvSpPr>
          <p:cNvPr id="17" name="TextBox 16"/>
          <p:cNvSpPr txBox="1"/>
          <p:nvPr/>
        </p:nvSpPr>
        <p:spPr>
          <a:xfrm>
            <a:off x="658368" y="5029200"/>
            <a:ext cx="10890504" cy="1143000"/>
          </a:xfrm>
          <a:prstGeom prst="rect">
            <a:avLst/>
          </a:prstGeom>
          <a:noFill/>
        </p:spPr>
        <p:txBody>
          <a:bodyPr wrap="square" anchor="t" lIns="45720" rIns="45720">
            <a:spAutoFit/>
          </a:bodyPr>
          <a:lstStyle/>
          <a:p>
            <a:pPr>
              <a:spcAft>
                <a:spcPts val="600"/>
              </a:spcAft>
            </a:pPr>
            <a:r>
              <a:rPr sz="1500" b="0">
                <a:solidFill>
                  <a:srgbClr val="1F242B"/>
                </a:solidFill>
                <a:latin typeface="Calibri"/>
              </a:rPr>
              <a:t>Done: seven modules, dashboard, finance, automation, admin screens, reporting views and SQL reports, Power BI model and DAX, reconciliation template</a:t>
            </a:r>
          </a:p>
          <a:p>
            <a:pPr>
              <a:spcAft>
                <a:spcPts val="600"/>
              </a:spcAft>
            </a:pPr>
            <a:r>
              <a:rPr sz="1500" b="0">
                <a:solidFill>
                  <a:srgbClr val="1F242B"/>
                </a:solidFill>
                <a:latin typeface="Calibri"/>
              </a:rPr>
              <a:t>To do: Power BI report file, Access utility, hosted URL (optional); browser walkthrough of every flow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